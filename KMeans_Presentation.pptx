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Sequential</c:v>
                </c:pt>
              </c:strCache>
            </c:strRef>
          </c:tx>
          <c:spPr bwMode="auto">
            <a:prstGeom prst="rect">
              <a:avLst/>
            </a:prstGeom>
            <a:solidFill>
              <a:srgbClr val="4A6275"/>
            </a:solidFill>
            <a:effectLst/>
          </c:spPr>
          <c:invertIfNegative val="0"/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4965</c:v>
                </c:pt>
                <c:pt idx="1">
                  <c:v>39605</c:v>
                </c:pt>
                <c:pt idx="2">
                  <c:v>212183</c:v>
                </c:pt>
                <c:pt idx="3">
                  <c:v>306346</c:v>
                </c:pt>
                <c:pt idx="4">
                  <c:v>613309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Scikit-Learn</c:v>
                </c:pt>
              </c:strCache>
            </c:strRef>
          </c:tx>
          <c:spPr bwMode="auto">
            <a:prstGeom prst="rect">
              <a:avLst/>
            </a:prstGeom>
            <a:solidFill>
              <a:srgbClr val="FFD166"/>
            </a:solidFill>
            <a:effectLst/>
          </c:spPr>
          <c:invertIfNegative val="0"/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396</c:v>
                </c:pt>
                <c:pt idx="1">
                  <c:v>1722</c:v>
                </c:pt>
                <c:pt idx="2">
                  <c:v>8109</c:v>
                </c:pt>
                <c:pt idx="3">
                  <c:v>21833</c:v>
                </c:pt>
                <c:pt idx="4">
                  <c:v>31115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HIP (GPU)</c:v>
                </c:pt>
              </c:strCache>
            </c:strRef>
          </c:tx>
          <c:spPr bwMode="auto">
            <a:prstGeom prst="rect">
              <a:avLst/>
            </a:prstGeom>
            <a:solidFill>
              <a:srgbClr val="00B4D8"/>
            </a:solidFill>
            <a:effectLst/>
          </c:spPr>
          <c:invertIfNegative val="0"/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2122</c:v>
                </c:pt>
                <c:pt idx="1">
                  <c:v>15031</c:v>
                </c:pt>
                <c:pt idx="2">
                  <c:v>48300</c:v>
                </c:pt>
                <c:pt idx="3">
                  <c:v>77633</c:v>
                </c:pt>
                <c:pt idx="4">
                  <c:v>142613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MPI 4P</c:v>
                </c:pt>
              </c:strCache>
            </c:strRef>
          </c:tx>
          <c:spPr bwMode="auto">
            <a:prstGeom prst="rect">
              <a:avLst/>
            </a:prstGeom>
            <a:solidFill>
              <a:srgbClr val="F4A261"/>
            </a:solidFill>
            <a:effectLst/>
          </c:spPr>
          <c:invertIfNegative val="0"/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1484</c:v>
                </c:pt>
                <c:pt idx="1">
                  <c:v>9502</c:v>
                </c:pt>
                <c:pt idx="2">
                  <c:v>53818</c:v>
                </c:pt>
                <c:pt idx="3">
                  <c:v>160434</c:v>
                </c:pt>
                <c:pt idx="4">
                  <c:v>156254</c:v>
                </c:pt>
              </c:numCache>
            </c:numRef>
          </c:val>
        </c:ser>
        <c:dLbls>
          <c:numFmt formatCode="#,##0" sourceLinked="0"/>
          <c:showBubbleSize val="0"/>
          <c:showCatName val="0"/>
          <c:showLeaderLines val="0"/>
          <c:showLegendKey val="0"/>
          <c:showPercent val="0"/>
          <c:showSerName val="0"/>
          <c:showVal val="0"/>
          <c:txPr>
            <a:bodyPr/>
            <a:lstStyle/>
            <a:p>
              <a:pPr>
                <a:defRPr sz="1200" b="0" i="0" u="none" strike="noStrik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0"/>
  </c:chart>
  <c:spPr bwMode="auto">
    <a:xfrm rot="0">
      <a:off x="274320" y="960120"/>
      <a:ext cx="8595360" cy="3977640"/>
    </a:xfrm>
    <a:prstGeom prst="rect">
      <a:avLst/>
    </a:prstGeom>
    <a:solidFill>
      <a:srgbClr val="FFFFFF"/>
    </a:solidFill>
    <a:ln>
      <a:noFill/>
    </a:ln>
    <a:effectLst/>
  </c:sp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Scikit-Learn</c:v>
                </c:pt>
              </c:strCache>
            </c:strRef>
          </c:tx>
          <c:spPr bwMode="auto">
            <a:prstGeom prst="rect">
              <a:avLst/>
            </a:prstGeom>
            <a:solidFill>
              <a:srgbClr val="FFD166"/>
            </a:solidFill>
            <a:ln w="31750" cap="flat">
              <a:solidFill>
                <a:srgbClr val="FFD166"/>
              </a:solidFill>
              <a:prstDash val="solid"/>
              <a:round/>
            </a:ln>
            <a:effectLst/>
          </c:spPr>
          <c:marker>
            <c:symbol val="circle"/>
            <c:size val="6"/>
            <c:spPr bwMode="auto">
              <a:prstGeom prst="rect">
                <a:avLst/>
              </a:prstGeom>
              <a:solidFill>
                <a:srgbClr val="FFD166"/>
              </a:solidFill>
              <a:ln w="9525" cap="flat">
                <a:solidFill>
                  <a:srgbClr val="FFD166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12.54</c:v>
                </c:pt>
                <c:pt idx="1">
                  <c:v>23</c:v>
                </c:pt>
                <c:pt idx="2">
                  <c:v>26.17</c:v>
                </c:pt>
                <c:pt idx="3">
                  <c:v>14.03</c:v>
                </c:pt>
                <c:pt idx="4">
                  <c:v>19.71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HIP (GPU)</c:v>
                </c:pt>
              </c:strCache>
            </c:strRef>
          </c:tx>
          <c:spPr bwMode="auto">
            <a:prstGeom prst="rect">
              <a:avLst/>
            </a:prstGeom>
            <a:solidFill>
              <a:srgbClr val="00B4D8"/>
            </a:solidFill>
            <a:ln w="31750" cap="flat">
              <a:solidFill>
                <a:srgbClr val="00B4D8"/>
              </a:solidFill>
              <a:prstDash val="solid"/>
              <a:round/>
            </a:ln>
            <a:effectLst/>
          </c:spPr>
          <c:marker>
            <c:symbol val="circle"/>
            <c:size val="6"/>
            <c:spPr bwMode="auto">
              <a:prstGeom prst="rect">
                <a:avLst/>
              </a:prstGeom>
              <a:solidFill>
                <a:srgbClr val="00B4D8"/>
              </a:solidFill>
              <a:ln w="9525" cap="flat">
                <a:solidFill>
                  <a:srgbClr val="00B4D8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2.34</c:v>
                </c:pt>
                <c:pt idx="1">
                  <c:v>2.63</c:v>
                </c:pt>
                <c:pt idx="2">
                  <c:v>4.39</c:v>
                </c:pt>
                <c:pt idx="3">
                  <c:v>3.95</c:v>
                </c:pt>
                <c:pt idx="4">
                  <c:v>4.3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MPI 4P</c:v>
                </c:pt>
              </c:strCache>
            </c:strRef>
          </c:tx>
          <c:spPr bwMode="auto">
            <a:prstGeom prst="rect">
              <a:avLst/>
            </a:prstGeom>
            <a:solidFill>
              <a:srgbClr val="F4A261"/>
            </a:solidFill>
            <a:ln w="31750" cap="flat">
              <a:solidFill>
                <a:srgbClr val="F4A261"/>
              </a:solidFill>
              <a:prstDash val="solid"/>
              <a:round/>
            </a:ln>
            <a:effectLst/>
          </c:spPr>
          <c:marker>
            <c:symbol val="circle"/>
            <c:size val="6"/>
            <c:spPr bwMode="auto">
              <a:prstGeom prst="rect">
                <a:avLst/>
              </a:prstGeom>
              <a:solidFill>
                <a:srgbClr val="F4A261"/>
              </a:solidFill>
              <a:ln w="9525" cap="flat">
                <a:solidFill>
                  <a:srgbClr val="F4A26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3.35</c:v>
                </c:pt>
                <c:pt idx="1">
                  <c:v>4.17</c:v>
                </c:pt>
                <c:pt idx="2">
                  <c:v>3.94</c:v>
                </c:pt>
                <c:pt idx="3">
                  <c:v>1.91</c:v>
                </c:pt>
                <c:pt idx="4">
                  <c:v>3.93</c:v>
                </c:pt>
              </c:numCache>
            </c:numRef>
          </c:val>
          <c:smooth val="1"/>
        </c:ser>
        <c:dLbls>
          <c:numFmt formatCode="#,##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000" b="0" i="0" u="none" strike="noStrike">
                  <a:solidFill>
                    <a:srgbClr val="1E293B"/>
                  </a:solidFill>
                  <a:latin typeface="Arial"/>
                </a:defRPr>
              </a:pPr>
              <a:endParaRPr/>
            </a:p>
          </c:txPr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0"/>
  </c:chart>
  <c:spPr bwMode="auto">
    <a:xfrm rot="0">
      <a:off x="274320" y="1005840"/>
      <a:ext cx="8595360" cy="3474720"/>
    </a:xfrm>
    <a:prstGeom prst="rect">
      <a:avLst/>
    </a:prstGeom>
    <a:solidFill>
      <a:srgbClr val="FFFFFF"/>
    </a:solidFill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embeddings/_rels/Microsoft_Excel_Worksheet2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716412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605327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95723239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2939933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16861950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1448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356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3616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80142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26497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152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318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21695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10504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07134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47637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0086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3609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8628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796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07124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89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8276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9948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9031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8548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1672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6784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96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5763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8276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4846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99567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8012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329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6465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4726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94417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6436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102269" name="Shape 0"/>
          <p:cNvSpPr/>
          <p:nvPr/>
        </p:nvSpPr>
        <p:spPr bwMode="auto"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82287058" name="Shape 1"/>
          <p:cNvSpPr/>
          <p:nvPr/>
        </p:nvSpPr>
        <p:spPr bwMode="auto">
          <a:xfrm>
            <a:off x="5943600" y="-1097280"/>
            <a:ext cx="4572000" cy="45720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800326592" name="Shape 2"/>
          <p:cNvSpPr/>
          <p:nvPr/>
        </p:nvSpPr>
        <p:spPr bwMode="auto">
          <a:xfrm>
            <a:off x="6583680" y="-457200"/>
            <a:ext cx="3474720" cy="3474720"/>
          </a:xfrm>
          <a:prstGeom prst="ellipse">
            <a:avLst/>
          </a:prstGeom>
          <a:solidFill>
            <a:srgbClr val="142C44"/>
          </a:solidFill>
          <a:ln w="12700">
            <a:solidFill>
              <a:srgbClr val="142C44"/>
            </a:solidFill>
            <a:prstDash val="solid"/>
          </a:ln>
        </p:spPr>
      </p:sp>
      <p:pic>
        <p:nvPicPr>
          <p:cNvPr id="217560407" name="Image 0" descr="preencoded.png"/>
          <p:cNvPicPr>
            <a:picLocks noChangeAspect="1"/>
          </p:cNvPicPr>
          <p:nvPr/>
        </p:nvPicPr>
        <p:blipFill rotWithShape="1">
          <a:blip r:embed="rId3">
            <a:alphaModFix amt="80000"/>
          </a:blip>
          <a:stretch/>
        </p:blipFill>
        <p:spPr bwMode="auto">
          <a:xfrm>
            <a:off x="6949440" y="182880"/>
            <a:ext cx="2011680" cy="2011680"/>
          </a:xfrm>
          <a:prstGeom prst="rect">
            <a:avLst/>
          </a:prstGeom>
        </p:spPr>
      </p:pic>
      <p:sp>
        <p:nvSpPr>
          <p:cNvPr id="1527343791" name="Text 3"/>
          <p:cNvSpPr/>
          <p:nvPr/>
        </p:nvSpPr>
        <p:spPr bwMode="auto">
          <a:xfrm>
            <a:off x="27432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rgbClr val="00B4D8"/>
                </a:solidFill>
              </a:rPr>
              <a:t>PARALLEL COMPUTING PROJECT</a:t>
            </a:r>
            <a:endParaRPr lang="en-US" sz="1100"/>
          </a:p>
        </p:txBody>
      </p:sp>
      <p:sp>
        <p:nvSpPr>
          <p:cNvPr id="1078881467" name="Text 4"/>
          <p:cNvSpPr/>
          <p:nvPr/>
        </p:nvSpPr>
        <p:spPr bwMode="auto">
          <a:xfrm>
            <a:off x="274320" y="141732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800" b="1">
                <a:solidFill>
                  <a:srgbClr val="FFFFFF"/>
                </a:solidFill>
              </a:rPr>
              <a:t>K-Means Clustering</a:t>
            </a:r>
            <a:endParaRPr lang="en-US" sz="4800"/>
          </a:p>
        </p:txBody>
      </p:sp>
      <p:sp>
        <p:nvSpPr>
          <p:cNvPr id="1050594444" name="Text 5"/>
          <p:cNvSpPr/>
          <p:nvPr/>
        </p:nvSpPr>
        <p:spPr bwMode="auto">
          <a:xfrm>
            <a:off x="274320" y="2423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>
                <a:solidFill>
                  <a:srgbClr val="00B4D8"/>
                </a:solidFill>
              </a:rPr>
              <a:t>Parallel Implementations</a:t>
            </a:r>
            <a:endParaRPr lang="en-US" sz="3000"/>
          </a:p>
        </p:txBody>
      </p:sp>
      <p:sp>
        <p:nvSpPr>
          <p:cNvPr id="829400119" name="Text 6"/>
          <p:cNvSpPr/>
          <p:nvPr/>
        </p:nvSpPr>
        <p:spPr bwMode="auto">
          <a:xfrm>
            <a:off x="274320" y="3200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FB3C8"/>
                </a:solidFill>
              </a:rPr>
              <a:t>Sequential · Scikit-Learn · HIP (AMD GPU) · MPI</a:t>
            </a:r>
            <a:endParaRPr lang="en-US" sz="1500"/>
          </a:p>
        </p:txBody>
      </p:sp>
      <p:sp>
        <p:nvSpPr>
          <p:cNvPr id="1356157926" name="Text 7"/>
          <p:cNvSpPr/>
          <p:nvPr/>
        </p:nvSpPr>
        <p:spPr bwMode="auto">
          <a:xfrm>
            <a:off x="2743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4A6275"/>
                </a:solidFill>
              </a:rPr>
              <a:t>Hardware: AMD Ryzen 7840HS · Radeon 780M iGPU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28397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87263537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</a:rPr>
              <a:t>What is K-Means Clustering?</a:t>
            </a:r>
            <a:endParaRPr lang="en-US" sz="2600"/>
          </a:p>
        </p:txBody>
      </p:sp>
      <p:sp>
        <p:nvSpPr>
          <p:cNvPr id="2057899673" name="Shape 2"/>
          <p:cNvSpPr/>
          <p:nvPr/>
        </p:nvSpPr>
        <p:spPr bwMode="auto">
          <a:xfrm>
            <a:off x="274320" y="1005840"/>
            <a:ext cx="4114800" cy="3657600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22970434" name="Text 3"/>
          <p:cNvSpPr/>
          <p:nvPr/>
        </p:nvSpPr>
        <p:spPr bwMode="auto">
          <a:xfrm>
            <a:off x="274320" y="1005840"/>
            <a:ext cx="411480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</a:rPr>
              <a:t>Lloyd's Algorithm</a:t>
            </a:r>
            <a:endParaRPr lang="en-US" sz="1500"/>
          </a:p>
        </p:txBody>
      </p:sp>
      <p:sp>
        <p:nvSpPr>
          <p:cNvPr id="750055566" name="Shape 4"/>
          <p:cNvSpPr/>
          <p:nvPr/>
        </p:nvSpPr>
        <p:spPr bwMode="auto">
          <a:xfrm>
            <a:off x="411480" y="1591056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24927831" name="Text 5"/>
          <p:cNvSpPr/>
          <p:nvPr/>
        </p:nvSpPr>
        <p:spPr bwMode="auto">
          <a:xfrm>
            <a:off x="411480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1</a:t>
            </a:r>
            <a:endParaRPr lang="en-US" sz="1100"/>
          </a:p>
        </p:txBody>
      </p:sp>
      <p:sp>
        <p:nvSpPr>
          <p:cNvPr id="1781705095" name="Text 6"/>
          <p:cNvSpPr/>
          <p:nvPr/>
        </p:nvSpPr>
        <p:spPr bwMode="auto">
          <a:xfrm>
            <a:off x="777240" y="16002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0D1B2A"/>
                </a:solidFill>
              </a:rPr>
              <a:t>1. Initialize</a:t>
            </a:r>
            <a:endParaRPr lang="en-US" sz="1000"/>
          </a:p>
        </p:txBody>
      </p:sp>
      <p:sp>
        <p:nvSpPr>
          <p:cNvPr id="1402463403" name="Text 7"/>
          <p:cNvSpPr/>
          <p:nvPr/>
        </p:nvSpPr>
        <p:spPr bwMode="auto">
          <a:xfrm>
            <a:off x="777240" y="185623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Pick K random points as initial centroids (Forgy method)</a:t>
            </a:r>
            <a:endParaRPr lang="en-US" sz="900"/>
          </a:p>
        </p:txBody>
      </p:sp>
      <p:sp>
        <p:nvSpPr>
          <p:cNvPr id="1566718339" name="Shape 8"/>
          <p:cNvSpPr/>
          <p:nvPr/>
        </p:nvSpPr>
        <p:spPr bwMode="auto">
          <a:xfrm>
            <a:off x="411480" y="2395728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71788532" name="Text 9"/>
          <p:cNvSpPr/>
          <p:nvPr/>
        </p:nvSpPr>
        <p:spPr bwMode="auto">
          <a:xfrm>
            <a:off x="411480" y="23865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2</a:t>
            </a:r>
            <a:endParaRPr lang="en-US" sz="1100"/>
          </a:p>
        </p:txBody>
      </p:sp>
      <p:sp>
        <p:nvSpPr>
          <p:cNvPr id="1295748367" name="Text 10"/>
          <p:cNvSpPr/>
          <p:nvPr/>
        </p:nvSpPr>
        <p:spPr bwMode="auto">
          <a:xfrm>
            <a:off x="777240" y="2404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0D1B2A"/>
                </a:solidFill>
              </a:rPr>
              <a:t>2. Assign</a:t>
            </a:r>
            <a:endParaRPr lang="en-US" sz="1000"/>
          </a:p>
        </p:txBody>
      </p:sp>
      <p:sp>
        <p:nvSpPr>
          <p:cNvPr id="2091163459" name="Text 11"/>
          <p:cNvSpPr/>
          <p:nvPr/>
        </p:nvSpPr>
        <p:spPr bwMode="auto">
          <a:xfrm>
            <a:off x="777240" y="266090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Each point → nearest centroid (Voronoi partition). Squared Euclidean distance — no √ needed.</a:t>
            </a:r>
            <a:endParaRPr lang="en-US" sz="900"/>
          </a:p>
        </p:txBody>
      </p:sp>
      <p:sp>
        <p:nvSpPr>
          <p:cNvPr id="2087162300" name="Shape 12"/>
          <p:cNvSpPr/>
          <p:nvPr/>
        </p:nvSpPr>
        <p:spPr bwMode="auto">
          <a:xfrm>
            <a:off x="411480" y="3200400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42345944" name="Text 13"/>
          <p:cNvSpPr/>
          <p:nvPr/>
        </p:nvSpPr>
        <p:spPr bwMode="auto">
          <a:xfrm>
            <a:off x="411480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3</a:t>
            </a:r>
            <a:endParaRPr lang="en-US" sz="1100"/>
          </a:p>
        </p:txBody>
      </p:sp>
      <p:sp>
        <p:nvSpPr>
          <p:cNvPr id="442254722" name="Text 14"/>
          <p:cNvSpPr/>
          <p:nvPr/>
        </p:nvSpPr>
        <p:spPr bwMode="auto">
          <a:xfrm>
            <a:off x="777240" y="3209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0D1B2A"/>
                </a:solidFill>
              </a:rPr>
              <a:t>3. Update</a:t>
            </a:r>
            <a:endParaRPr lang="en-US" sz="1000"/>
          </a:p>
        </p:txBody>
      </p:sp>
      <p:sp>
        <p:nvSpPr>
          <p:cNvPr id="243773089" name="Text 15"/>
          <p:cNvSpPr/>
          <p:nvPr/>
        </p:nvSpPr>
        <p:spPr bwMode="auto">
          <a:xfrm>
            <a:off x="777240" y="346557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Recompute centroid = mean of all assigned points</a:t>
            </a:r>
            <a:endParaRPr lang="en-US" sz="900"/>
          </a:p>
        </p:txBody>
      </p:sp>
      <p:sp>
        <p:nvSpPr>
          <p:cNvPr id="1719349370" name="Shape 16"/>
          <p:cNvSpPr/>
          <p:nvPr/>
        </p:nvSpPr>
        <p:spPr bwMode="auto">
          <a:xfrm>
            <a:off x="411480" y="4005072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77118906" name="Text 17"/>
          <p:cNvSpPr/>
          <p:nvPr/>
        </p:nvSpPr>
        <p:spPr bwMode="auto">
          <a:xfrm>
            <a:off x="411480" y="3995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4</a:t>
            </a:r>
            <a:endParaRPr lang="en-US" sz="1100"/>
          </a:p>
        </p:txBody>
      </p:sp>
      <p:sp>
        <p:nvSpPr>
          <p:cNvPr id="1715694313" name="Text 18"/>
          <p:cNvSpPr/>
          <p:nvPr/>
        </p:nvSpPr>
        <p:spPr bwMode="auto">
          <a:xfrm>
            <a:off x="777240" y="40142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0D1B2A"/>
                </a:solidFill>
              </a:rPr>
              <a:t>4. Repeat</a:t>
            </a:r>
            <a:endParaRPr lang="en-US" sz="1000"/>
          </a:p>
        </p:txBody>
      </p:sp>
      <p:sp>
        <p:nvSpPr>
          <p:cNvPr id="968395547" name="Text 19"/>
          <p:cNvSpPr/>
          <p:nvPr/>
        </p:nvSpPr>
        <p:spPr bwMode="auto">
          <a:xfrm>
            <a:off x="777240" y="427024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Until no point changes cluster (convergence guaranteed — WCSS decreases monotonically)</a:t>
            </a:r>
            <a:endParaRPr lang="en-US" sz="900"/>
          </a:p>
        </p:txBody>
      </p:sp>
      <p:sp>
        <p:nvSpPr>
          <p:cNvPr id="628864179" name="Shape 20"/>
          <p:cNvSpPr/>
          <p:nvPr/>
        </p:nvSpPr>
        <p:spPr bwMode="auto">
          <a:xfrm>
            <a:off x="4663440" y="1005840"/>
            <a:ext cx="4206240" cy="1051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17569304" name="Text 21"/>
          <p:cNvSpPr/>
          <p:nvPr/>
        </p:nvSpPr>
        <p:spPr bwMode="auto">
          <a:xfrm>
            <a:off x="4663440" y="1005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0B4D8"/>
                </a:solidFill>
              </a:rPr>
              <a:t>Computational Complexity</a:t>
            </a:r>
            <a:endParaRPr lang="en-US" sz="1300"/>
          </a:p>
        </p:txBody>
      </p:sp>
      <p:sp>
        <p:nvSpPr>
          <p:cNvPr id="999978881" name="Text 22"/>
          <p:cNvSpPr/>
          <p:nvPr/>
        </p:nvSpPr>
        <p:spPr bwMode="auto">
          <a:xfrm>
            <a:off x="4663440" y="1417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</a:rPr>
              <a:t>O(N × K × D × I)</a:t>
            </a:r>
            <a:r>
              <a:rPr lang="en-US" sz="1200">
                <a:solidFill>
                  <a:srgbClr val="7FB3C8"/>
                </a:solidFill>
              </a:rPr>
              <a:t>  per run</a:t>
            </a:r>
            <a:endParaRPr lang="en-US" sz="1800"/>
          </a:p>
        </p:txBody>
      </p:sp>
      <p:sp>
        <p:nvSpPr>
          <p:cNvPr id="1407814003" name="Shape 23"/>
          <p:cNvSpPr/>
          <p:nvPr/>
        </p:nvSpPr>
        <p:spPr bwMode="auto">
          <a:xfrm>
            <a:off x="466344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58256128" name="Text 24"/>
          <p:cNvSpPr/>
          <p:nvPr/>
        </p:nvSpPr>
        <p:spPr bwMode="auto">
          <a:xfrm>
            <a:off x="466344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B4D8"/>
                </a:solidFill>
              </a:rPr>
              <a:t>N</a:t>
            </a:r>
            <a:endParaRPr lang="en-US" sz="1600"/>
          </a:p>
        </p:txBody>
      </p:sp>
      <p:sp>
        <p:nvSpPr>
          <p:cNvPr id="1714160585" name="Text 25"/>
          <p:cNvSpPr/>
          <p:nvPr/>
        </p:nvSpPr>
        <p:spPr bwMode="auto">
          <a:xfrm>
            <a:off x="466344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Points</a:t>
            </a:r>
            <a:endParaRPr lang="en-US" sz="900"/>
          </a:p>
        </p:txBody>
      </p:sp>
      <p:sp>
        <p:nvSpPr>
          <p:cNvPr id="1816550522" name="Shape 26"/>
          <p:cNvSpPr/>
          <p:nvPr/>
        </p:nvSpPr>
        <p:spPr bwMode="auto">
          <a:xfrm>
            <a:off x="571500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66437871" name="Text 27"/>
          <p:cNvSpPr/>
          <p:nvPr/>
        </p:nvSpPr>
        <p:spPr bwMode="auto">
          <a:xfrm>
            <a:off x="571500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4A261"/>
                </a:solidFill>
              </a:rPr>
              <a:t>K</a:t>
            </a:r>
            <a:endParaRPr lang="en-US" sz="1600"/>
          </a:p>
        </p:txBody>
      </p:sp>
      <p:sp>
        <p:nvSpPr>
          <p:cNvPr id="1678690256" name="Text 28"/>
          <p:cNvSpPr/>
          <p:nvPr/>
        </p:nvSpPr>
        <p:spPr bwMode="auto">
          <a:xfrm>
            <a:off x="571500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Clusters</a:t>
            </a:r>
            <a:endParaRPr lang="en-US" sz="900"/>
          </a:p>
        </p:txBody>
      </p:sp>
      <p:sp>
        <p:nvSpPr>
          <p:cNvPr id="163362569" name="Shape 29"/>
          <p:cNvSpPr/>
          <p:nvPr/>
        </p:nvSpPr>
        <p:spPr bwMode="auto">
          <a:xfrm>
            <a:off x="676656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33865213" name="Text 30"/>
          <p:cNvSpPr/>
          <p:nvPr/>
        </p:nvSpPr>
        <p:spPr bwMode="auto">
          <a:xfrm>
            <a:off x="676656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D166"/>
                </a:solidFill>
              </a:rPr>
              <a:t>D</a:t>
            </a:r>
            <a:endParaRPr lang="en-US" sz="1600"/>
          </a:p>
        </p:txBody>
      </p:sp>
      <p:sp>
        <p:nvSpPr>
          <p:cNvPr id="1834966173" name="Text 31"/>
          <p:cNvSpPr/>
          <p:nvPr/>
        </p:nvSpPr>
        <p:spPr bwMode="auto">
          <a:xfrm>
            <a:off x="676656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Dimensions</a:t>
            </a:r>
            <a:endParaRPr lang="en-US" sz="900"/>
          </a:p>
        </p:txBody>
      </p:sp>
      <p:sp>
        <p:nvSpPr>
          <p:cNvPr id="1668110406" name="Shape 32"/>
          <p:cNvSpPr/>
          <p:nvPr/>
        </p:nvSpPr>
        <p:spPr bwMode="auto">
          <a:xfrm>
            <a:off x="781812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404899912" name="Text 33"/>
          <p:cNvSpPr/>
          <p:nvPr/>
        </p:nvSpPr>
        <p:spPr bwMode="auto">
          <a:xfrm>
            <a:off x="781812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2DC653"/>
                </a:solidFill>
              </a:rPr>
              <a:t>I</a:t>
            </a:r>
            <a:endParaRPr lang="en-US" sz="1600"/>
          </a:p>
        </p:txBody>
      </p:sp>
      <p:sp>
        <p:nvSpPr>
          <p:cNvPr id="1815177272" name="Text 34"/>
          <p:cNvSpPr/>
          <p:nvPr/>
        </p:nvSpPr>
        <p:spPr bwMode="auto">
          <a:xfrm>
            <a:off x="781812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Iterations</a:t>
            </a:r>
            <a:endParaRPr lang="en-US" sz="900"/>
          </a:p>
        </p:txBody>
      </p:sp>
      <p:sp>
        <p:nvSpPr>
          <p:cNvPr id="82831349" name="Shape 35"/>
          <p:cNvSpPr/>
          <p:nvPr/>
        </p:nvSpPr>
        <p:spPr bwMode="auto">
          <a:xfrm>
            <a:off x="4663440" y="2926080"/>
            <a:ext cx="4206240" cy="1737360"/>
          </a:xfrm>
          <a:prstGeom prst="rect">
            <a:avLst/>
          </a:prstGeom>
          <a:solidFill>
            <a:srgbClr val="FFF8E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03924075" name="Text 36"/>
          <p:cNvSpPr/>
          <p:nvPr/>
        </p:nvSpPr>
        <p:spPr bwMode="auto">
          <a:xfrm>
            <a:off x="4663440" y="2926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4A261"/>
                </a:solidFill>
              </a:rPr>
              <a:t>⚡ Embarrassingly Parallel</a:t>
            </a:r>
            <a:endParaRPr lang="en-US" sz="1300"/>
          </a:p>
        </p:txBody>
      </p:sp>
      <p:sp>
        <p:nvSpPr>
          <p:cNvPr id="1828875437" name="Text 37"/>
          <p:cNvSpPr/>
          <p:nvPr/>
        </p:nvSpPr>
        <p:spPr bwMode="auto">
          <a:xfrm>
            <a:off x="4800600" y="342900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D1B2A"/>
                </a:solidFill>
              </a:rPr>
              <a:t>Assignment phase</a:t>
            </a:r>
            <a:r>
              <a:rPr lang="en-US" sz="1050">
                <a:solidFill>
                  <a:srgbClr val="0D1B2A"/>
                </a:solidFill>
              </a:rPr>
              <a:t> is the bottleneck — each point's nearest-centroid search is fully independent of every other point.</a:t>
            </a:r>
            <a:endParaRPr lang="en-US" sz="1050"/>
          </a:p>
          <a:p>
            <a:pPr marL="0" indent="0">
              <a:buNone/>
              <a:defRPr/>
            </a:pP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0D1B2A"/>
                </a:solidFill>
              </a:rPr>
              <a:t>This is the core reason GPU &amp; MPI acceleration works so well.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835679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041860799" name="Text 1"/>
          <p:cNvSpPr/>
          <p:nvPr/>
        </p:nvSpPr>
        <p:spPr bwMode="auto"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</a:rPr>
              <a:t>Four Implementations</a:t>
            </a:r>
            <a:endParaRPr lang="en-US" sz="2600"/>
          </a:p>
        </p:txBody>
      </p:sp>
      <p:sp>
        <p:nvSpPr>
          <p:cNvPr id="596709869" name="Shape 2"/>
          <p:cNvSpPr/>
          <p:nvPr/>
        </p:nvSpPr>
        <p:spPr bwMode="auto">
          <a:xfrm>
            <a:off x="13716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4A6275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907111616" name="Shape 3"/>
          <p:cNvSpPr/>
          <p:nvPr/>
        </p:nvSpPr>
        <p:spPr bwMode="auto">
          <a:xfrm>
            <a:off x="137160" y="1005840"/>
            <a:ext cx="2103120" cy="3657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079808478" name="Text 4"/>
          <p:cNvSpPr/>
          <p:nvPr/>
        </p:nvSpPr>
        <p:spPr bwMode="auto">
          <a:xfrm>
            <a:off x="13716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0D1B2A"/>
                </a:solidFill>
              </a:rPr>
              <a:t>Baseline</a:t>
            </a:r>
            <a:endParaRPr lang="en-US" sz="900"/>
          </a:p>
        </p:txBody>
      </p:sp>
      <p:pic>
        <p:nvPicPr>
          <p:cNvPr id="16689989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4400" y="1463040"/>
            <a:ext cx="548640" cy="548640"/>
          </a:xfrm>
          <a:prstGeom prst="rect">
            <a:avLst/>
          </a:prstGeom>
        </p:spPr>
      </p:pic>
      <p:sp>
        <p:nvSpPr>
          <p:cNvPr id="408428754" name="Text 5"/>
          <p:cNvSpPr/>
          <p:nvPr/>
        </p:nvSpPr>
        <p:spPr bwMode="auto">
          <a:xfrm>
            <a:off x="22860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Sequential C++</a:t>
            </a:r>
            <a:endParaRPr lang="en-US" sz="1100"/>
          </a:p>
        </p:txBody>
      </p:sp>
      <p:sp>
        <p:nvSpPr>
          <p:cNvPr id="751513872" name="Shape 6"/>
          <p:cNvSpPr/>
          <p:nvPr/>
        </p:nvSpPr>
        <p:spPr bwMode="auto">
          <a:xfrm>
            <a:off x="246888" y="276148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629131289" name="Text 7"/>
          <p:cNvSpPr/>
          <p:nvPr/>
        </p:nvSpPr>
        <p:spPr bwMode="auto">
          <a:xfrm>
            <a:off x="411480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Single-threaded Lloyd's algorithm</a:t>
            </a:r>
            <a:endParaRPr lang="en-US" sz="900"/>
          </a:p>
        </p:txBody>
      </p:sp>
      <p:sp>
        <p:nvSpPr>
          <p:cNvPr id="1941058553" name="Shape 8"/>
          <p:cNvSpPr/>
          <p:nvPr/>
        </p:nvSpPr>
        <p:spPr bwMode="auto">
          <a:xfrm>
            <a:off x="246888" y="326440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450288154" name="Text 9"/>
          <p:cNvSpPr/>
          <p:nvPr/>
        </p:nvSpPr>
        <p:spPr bwMode="auto">
          <a:xfrm>
            <a:off x="411480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Data-Oriented Design (flat arrays)</a:t>
            </a:r>
            <a:endParaRPr lang="en-US" sz="900"/>
          </a:p>
        </p:txBody>
      </p:sp>
      <p:sp>
        <p:nvSpPr>
          <p:cNvPr id="1441230056" name="Shape 10"/>
          <p:cNvSpPr/>
          <p:nvPr/>
        </p:nvSpPr>
        <p:spPr bwMode="auto">
          <a:xfrm>
            <a:off x="246888" y="376732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471256321" name="Text 11"/>
          <p:cNvSpPr/>
          <p:nvPr/>
        </p:nvSpPr>
        <p:spPr bwMode="auto">
          <a:xfrm>
            <a:off x="411480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Squared Euclidean — no √</a:t>
            </a:r>
            <a:endParaRPr lang="en-US" sz="900"/>
          </a:p>
        </p:txBody>
      </p:sp>
      <p:sp>
        <p:nvSpPr>
          <p:cNvPr id="1162636644" name="Shape 12"/>
          <p:cNvSpPr/>
          <p:nvPr/>
        </p:nvSpPr>
        <p:spPr bwMode="auto">
          <a:xfrm>
            <a:off x="246888" y="427024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762307024" name="Text 13"/>
          <p:cNvSpPr/>
          <p:nvPr/>
        </p:nvSpPr>
        <p:spPr bwMode="auto">
          <a:xfrm>
            <a:off x="41148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Establishes the performance floor</a:t>
            </a:r>
            <a:endParaRPr lang="en-US" sz="900"/>
          </a:p>
        </p:txBody>
      </p:sp>
      <p:sp>
        <p:nvSpPr>
          <p:cNvPr id="1888511162" name="Shape 14"/>
          <p:cNvSpPr/>
          <p:nvPr/>
        </p:nvSpPr>
        <p:spPr bwMode="auto">
          <a:xfrm>
            <a:off x="237744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FFD166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638911751" name="Shape 15"/>
          <p:cNvSpPr/>
          <p:nvPr/>
        </p:nvSpPr>
        <p:spPr bwMode="auto">
          <a:xfrm>
            <a:off x="2377440" y="1005840"/>
            <a:ext cx="2103120" cy="3657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56245770" name="Text 16"/>
          <p:cNvSpPr/>
          <p:nvPr/>
        </p:nvSpPr>
        <p:spPr bwMode="auto">
          <a:xfrm>
            <a:off x="237744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0D1B2A"/>
                </a:solidFill>
              </a:rPr>
              <a:t>Optimized CPU</a:t>
            </a:r>
            <a:endParaRPr lang="en-US" sz="900"/>
          </a:p>
        </p:txBody>
      </p:sp>
      <p:pic>
        <p:nvPicPr>
          <p:cNvPr id="126156349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154680" y="1463040"/>
            <a:ext cx="548640" cy="548640"/>
          </a:xfrm>
          <a:prstGeom prst="rect">
            <a:avLst/>
          </a:prstGeom>
        </p:spPr>
      </p:pic>
      <p:sp>
        <p:nvSpPr>
          <p:cNvPr id="313943710" name="Text 17"/>
          <p:cNvSpPr/>
          <p:nvPr/>
        </p:nvSpPr>
        <p:spPr bwMode="auto">
          <a:xfrm>
            <a:off x="246888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Scikit-Learn (Python)</a:t>
            </a:r>
            <a:endParaRPr lang="en-US" sz="1100"/>
          </a:p>
        </p:txBody>
      </p:sp>
      <p:sp>
        <p:nvSpPr>
          <p:cNvPr id="1836999688" name="Shape 18"/>
          <p:cNvSpPr/>
          <p:nvPr/>
        </p:nvSpPr>
        <p:spPr bwMode="auto">
          <a:xfrm>
            <a:off x="2487168" y="276148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12807771" name="Text 19"/>
          <p:cNvSpPr/>
          <p:nvPr/>
        </p:nvSpPr>
        <p:spPr bwMode="auto">
          <a:xfrm>
            <a:off x="2651760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BLAS vectorization (OpenBLAS)</a:t>
            </a:r>
            <a:endParaRPr lang="en-US" sz="900"/>
          </a:p>
        </p:txBody>
      </p:sp>
      <p:sp>
        <p:nvSpPr>
          <p:cNvPr id="246523382" name="Shape 20"/>
          <p:cNvSpPr/>
          <p:nvPr/>
        </p:nvSpPr>
        <p:spPr bwMode="auto">
          <a:xfrm>
            <a:off x="2487168" y="326440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38891332" name="Text 21"/>
          <p:cNvSpPr/>
          <p:nvPr/>
        </p:nvSpPr>
        <p:spPr bwMode="auto">
          <a:xfrm>
            <a:off x="2651760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Kernel trick: ‖X‑C‖²=‖X‖²‑2XCᵀ+‖C‖²</a:t>
            </a:r>
            <a:endParaRPr lang="en-US" sz="900"/>
          </a:p>
        </p:txBody>
      </p:sp>
      <p:sp>
        <p:nvSpPr>
          <p:cNvPr id="177354430" name="Shape 22"/>
          <p:cNvSpPr/>
          <p:nvPr/>
        </p:nvSpPr>
        <p:spPr bwMode="auto">
          <a:xfrm>
            <a:off x="2487168" y="376732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85219564" name="Text 23"/>
          <p:cNvSpPr/>
          <p:nvPr/>
        </p:nvSpPr>
        <p:spPr bwMode="auto">
          <a:xfrm>
            <a:off x="2651760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Multi-core SIMD (AVX2)</a:t>
            </a:r>
            <a:endParaRPr lang="en-US" sz="900"/>
          </a:p>
        </p:txBody>
      </p:sp>
      <p:sp>
        <p:nvSpPr>
          <p:cNvPr id="298917314" name="Shape 24"/>
          <p:cNvSpPr/>
          <p:nvPr/>
        </p:nvSpPr>
        <p:spPr bwMode="auto">
          <a:xfrm>
            <a:off x="2487168" y="427024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51462806" name="Text 25"/>
          <p:cNvSpPr/>
          <p:nvPr/>
        </p:nvSpPr>
        <p:spPr bwMode="auto">
          <a:xfrm>
            <a:off x="265176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Fastest overall — highly optimized lib</a:t>
            </a:r>
            <a:endParaRPr lang="en-US" sz="900"/>
          </a:p>
        </p:txBody>
      </p:sp>
      <p:sp>
        <p:nvSpPr>
          <p:cNvPr id="405645055" name="Shape 26"/>
          <p:cNvSpPr/>
          <p:nvPr/>
        </p:nvSpPr>
        <p:spPr bwMode="auto">
          <a:xfrm>
            <a:off x="461772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670846621" name="Shape 27"/>
          <p:cNvSpPr/>
          <p:nvPr/>
        </p:nvSpPr>
        <p:spPr bwMode="auto">
          <a:xfrm>
            <a:off x="4617720" y="1005840"/>
            <a:ext cx="210312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19606037" name="Text 28"/>
          <p:cNvSpPr/>
          <p:nvPr/>
        </p:nvSpPr>
        <p:spPr bwMode="auto">
          <a:xfrm>
            <a:off x="461772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0D1B2A"/>
                </a:solidFill>
              </a:rPr>
              <a:t>GPU Parallel</a:t>
            </a:r>
            <a:endParaRPr lang="en-US" sz="900"/>
          </a:p>
        </p:txBody>
      </p:sp>
      <p:pic>
        <p:nvPicPr>
          <p:cNvPr id="69213575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94960" y="1463040"/>
            <a:ext cx="548640" cy="548640"/>
          </a:xfrm>
          <a:prstGeom prst="rect">
            <a:avLst/>
          </a:prstGeom>
        </p:spPr>
      </p:pic>
      <p:sp>
        <p:nvSpPr>
          <p:cNvPr id="1507531749" name="Text 29"/>
          <p:cNvSpPr/>
          <p:nvPr/>
        </p:nvSpPr>
        <p:spPr bwMode="auto">
          <a:xfrm>
            <a:off x="470916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HIP / AMD GPU</a:t>
            </a:r>
            <a:endParaRPr lang="en-US" sz="1100"/>
          </a:p>
        </p:txBody>
      </p:sp>
      <p:sp>
        <p:nvSpPr>
          <p:cNvPr id="1619076870" name="Shape 30"/>
          <p:cNvSpPr/>
          <p:nvPr/>
        </p:nvSpPr>
        <p:spPr bwMode="auto">
          <a:xfrm>
            <a:off x="4727448" y="276148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91813587" name="Text 31"/>
          <p:cNvSpPr/>
          <p:nvPr/>
        </p:nvSpPr>
        <p:spPr bwMode="auto">
          <a:xfrm>
            <a:off x="4892039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Each thread = one point</a:t>
            </a:r>
            <a:endParaRPr lang="en-US" sz="900"/>
          </a:p>
        </p:txBody>
      </p:sp>
      <p:sp>
        <p:nvSpPr>
          <p:cNvPr id="945763332" name="Shape 32"/>
          <p:cNvSpPr/>
          <p:nvPr/>
        </p:nvSpPr>
        <p:spPr bwMode="auto">
          <a:xfrm>
            <a:off x="4727448" y="326440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55645853" name="Text 33"/>
          <p:cNvSpPr/>
          <p:nvPr/>
        </p:nvSpPr>
        <p:spPr bwMode="auto">
          <a:xfrm>
            <a:off x="4892039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Coalesced flat 1D memory layout</a:t>
            </a:r>
            <a:endParaRPr lang="en-US" sz="900"/>
          </a:p>
        </p:txBody>
      </p:sp>
      <p:sp>
        <p:nvSpPr>
          <p:cNvPr id="1470768752" name="Shape 34"/>
          <p:cNvSpPr/>
          <p:nvPr/>
        </p:nvSpPr>
        <p:spPr bwMode="auto">
          <a:xfrm>
            <a:off x="4727448" y="376732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7340633" name="Text 35"/>
          <p:cNvSpPr/>
          <p:nvPr/>
        </p:nvSpPr>
        <p:spPr bwMode="auto">
          <a:xfrm>
            <a:off x="4892039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atomicAdd for race-free centroid update</a:t>
            </a:r>
            <a:endParaRPr lang="en-US" sz="900"/>
          </a:p>
        </p:txBody>
      </p:sp>
      <p:sp>
        <p:nvSpPr>
          <p:cNvPr id="1615967398" name="Shape 36"/>
          <p:cNvSpPr/>
          <p:nvPr/>
        </p:nvSpPr>
        <p:spPr bwMode="auto">
          <a:xfrm>
            <a:off x="4727448" y="427024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72008666" name="Text 37"/>
          <p:cNvSpPr/>
          <p:nvPr/>
        </p:nvSpPr>
        <p:spPr bwMode="auto">
          <a:xfrm>
            <a:off x="4892039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AMD iGPU (Radeon 780M) via HIP runtime</a:t>
            </a:r>
            <a:endParaRPr lang="en-US" sz="900"/>
          </a:p>
        </p:txBody>
      </p:sp>
      <p:sp>
        <p:nvSpPr>
          <p:cNvPr id="2064327626" name="Shape 38"/>
          <p:cNvSpPr/>
          <p:nvPr/>
        </p:nvSpPr>
        <p:spPr bwMode="auto">
          <a:xfrm>
            <a:off x="685800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F4A261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499861430" name="Shape 39"/>
          <p:cNvSpPr/>
          <p:nvPr/>
        </p:nvSpPr>
        <p:spPr bwMode="auto">
          <a:xfrm>
            <a:off x="6858000" y="1005840"/>
            <a:ext cx="2103120" cy="3657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58948243" name="Text 40"/>
          <p:cNvSpPr/>
          <p:nvPr/>
        </p:nvSpPr>
        <p:spPr bwMode="auto">
          <a:xfrm>
            <a:off x="685800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0D1B2A"/>
                </a:solidFill>
              </a:rPr>
              <a:t>Distributed CPU</a:t>
            </a:r>
            <a:endParaRPr lang="en-US" sz="900"/>
          </a:p>
        </p:txBody>
      </p:sp>
      <p:pic>
        <p:nvPicPr>
          <p:cNvPr id="177927133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635240" y="1463040"/>
            <a:ext cx="548640" cy="548640"/>
          </a:xfrm>
          <a:prstGeom prst="rect">
            <a:avLst/>
          </a:prstGeom>
        </p:spPr>
      </p:pic>
      <p:sp>
        <p:nvSpPr>
          <p:cNvPr id="427612901" name="Text 41"/>
          <p:cNvSpPr/>
          <p:nvPr/>
        </p:nvSpPr>
        <p:spPr bwMode="auto">
          <a:xfrm>
            <a:off x="694944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MPI (4 Processes)</a:t>
            </a:r>
            <a:endParaRPr lang="en-US" sz="1100"/>
          </a:p>
        </p:txBody>
      </p:sp>
      <p:sp>
        <p:nvSpPr>
          <p:cNvPr id="254424586" name="Shape 42"/>
          <p:cNvSpPr/>
          <p:nvPr/>
        </p:nvSpPr>
        <p:spPr bwMode="auto">
          <a:xfrm>
            <a:off x="6967728" y="276148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1115123" name="Text 43"/>
          <p:cNvSpPr/>
          <p:nvPr/>
        </p:nvSpPr>
        <p:spPr bwMode="auto">
          <a:xfrm>
            <a:off x="7132320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Domain decomposition: N/P points each</a:t>
            </a:r>
            <a:endParaRPr lang="en-US" sz="900"/>
          </a:p>
        </p:txBody>
      </p:sp>
      <p:sp>
        <p:nvSpPr>
          <p:cNvPr id="1840874491" name="Shape 44"/>
          <p:cNvSpPr/>
          <p:nvPr/>
        </p:nvSpPr>
        <p:spPr bwMode="auto">
          <a:xfrm>
            <a:off x="6967728" y="326440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709935103" name="Text 45"/>
          <p:cNvSpPr/>
          <p:nvPr/>
        </p:nvSpPr>
        <p:spPr bwMode="auto">
          <a:xfrm>
            <a:off x="7132320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MPI_Scatterv distributes data once</a:t>
            </a:r>
            <a:endParaRPr lang="en-US" sz="900"/>
          </a:p>
        </p:txBody>
      </p:sp>
      <p:sp>
        <p:nvSpPr>
          <p:cNvPr id="1995980960" name="Shape 46"/>
          <p:cNvSpPr/>
          <p:nvPr/>
        </p:nvSpPr>
        <p:spPr bwMode="auto">
          <a:xfrm>
            <a:off x="6967728" y="376732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69784912" name="Text 47"/>
          <p:cNvSpPr/>
          <p:nvPr/>
        </p:nvSpPr>
        <p:spPr bwMode="auto">
          <a:xfrm>
            <a:off x="7132320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MPI_Allreduce for global centroid sums</a:t>
            </a:r>
            <a:endParaRPr lang="en-US" sz="900"/>
          </a:p>
        </p:txBody>
      </p:sp>
      <p:sp>
        <p:nvSpPr>
          <p:cNvPr id="895148774" name="Shape 48"/>
          <p:cNvSpPr/>
          <p:nvPr/>
        </p:nvSpPr>
        <p:spPr bwMode="auto">
          <a:xfrm>
            <a:off x="6967728" y="427024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3214448" name="Text 49"/>
          <p:cNvSpPr/>
          <p:nvPr/>
        </p:nvSpPr>
        <p:spPr bwMode="auto">
          <a:xfrm>
            <a:off x="713232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Barrier-synchronized timing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7064359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553919855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100" b="1">
                <a:solidFill>
                  <a:srgbClr val="FFFFFF"/>
                </a:solidFill>
              </a:rPr>
              <a:t>Sequential C++ vs HIP GPU — Structural Differences</a:t>
            </a:r>
            <a:endParaRPr lang="en-US" sz="2100"/>
          </a:p>
        </p:txBody>
      </p:sp>
      <p:sp>
        <p:nvSpPr>
          <p:cNvPr id="1299137644" name="Shape 2"/>
          <p:cNvSpPr/>
          <p:nvPr/>
        </p:nvSpPr>
        <p:spPr bwMode="auto">
          <a:xfrm>
            <a:off x="182880" y="987552"/>
            <a:ext cx="4114800" cy="402336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200915380" name="Text 3"/>
          <p:cNvSpPr/>
          <p:nvPr/>
        </p:nvSpPr>
        <p:spPr bwMode="auto">
          <a:xfrm>
            <a:off x="182880" y="98755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Sequential C++</a:t>
            </a:r>
            <a:endParaRPr lang="en-US" sz="1400"/>
          </a:p>
        </p:txBody>
      </p:sp>
      <p:sp>
        <p:nvSpPr>
          <p:cNvPr id="401785279" name="Shape 4"/>
          <p:cNvSpPr/>
          <p:nvPr/>
        </p:nvSpPr>
        <p:spPr bwMode="auto">
          <a:xfrm>
            <a:off x="4846320" y="987552"/>
            <a:ext cx="4114800" cy="4023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47365702" name="Text 5"/>
          <p:cNvSpPr/>
          <p:nvPr/>
        </p:nvSpPr>
        <p:spPr bwMode="auto">
          <a:xfrm>
            <a:off x="4846320" y="98755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0D1B2A"/>
                </a:solidFill>
              </a:rPr>
              <a:t>HIP GPU (AMD)</a:t>
            </a:r>
            <a:endParaRPr lang="en-US" sz="1400"/>
          </a:p>
        </p:txBody>
      </p:sp>
      <p:sp>
        <p:nvSpPr>
          <p:cNvPr id="1401745150" name="Shape 6"/>
          <p:cNvSpPr/>
          <p:nvPr/>
        </p:nvSpPr>
        <p:spPr bwMode="auto">
          <a:xfrm>
            <a:off x="182880" y="1463040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2114253424" name="Shape 7"/>
          <p:cNvSpPr/>
          <p:nvPr/>
        </p:nvSpPr>
        <p:spPr bwMode="auto">
          <a:xfrm>
            <a:off x="4846320" y="1463040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2049809281" name="Shape 8"/>
          <p:cNvSpPr/>
          <p:nvPr/>
        </p:nvSpPr>
        <p:spPr bwMode="auto">
          <a:xfrm>
            <a:off x="4315968" y="1463040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41972558" name="Text 9"/>
          <p:cNvSpPr/>
          <p:nvPr/>
        </p:nvSpPr>
        <p:spPr bwMode="auto">
          <a:xfrm>
            <a:off x="4315968" y="1463040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750" b="1">
                <a:solidFill>
                  <a:srgbClr val="00B4D8"/>
                </a:solidFill>
              </a:rPr>
              <a:t>Memory Layout</a:t>
            </a:r>
            <a:endParaRPr lang="en-US" sz="750"/>
          </a:p>
        </p:txBody>
      </p:sp>
      <p:sp>
        <p:nvSpPr>
          <p:cNvPr id="1248923535" name="Text 10"/>
          <p:cNvSpPr/>
          <p:nvPr/>
        </p:nvSpPr>
        <p:spPr bwMode="auto">
          <a:xfrm>
            <a:off x="256032" y="149961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vector&lt;vector&lt;double&gt;&gt;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2D nested (cache misses possible)</a:t>
            </a:r>
            <a:endParaRPr lang="en-US" sz="900"/>
          </a:p>
        </p:txBody>
      </p:sp>
      <p:sp>
        <p:nvSpPr>
          <p:cNvPr id="1233835048" name="Text 11"/>
          <p:cNvSpPr/>
          <p:nvPr/>
        </p:nvSpPr>
        <p:spPr bwMode="auto">
          <a:xfrm>
            <a:off x="4919471" y="149961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Flat 1D double[N*D]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Coalesced GPU access</a:t>
            </a:r>
            <a:endParaRPr lang="en-US" sz="900"/>
          </a:p>
        </p:txBody>
      </p:sp>
      <p:sp>
        <p:nvSpPr>
          <p:cNvPr id="1176412828" name="Shape 12"/>
          <p:cNvSpPr/>
          <p:nvPr/>
        </p:nvSpPr>
        <p:spPr bwMode="auto">
          <a:xfrm>
            <a:off x="182880" y="217627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794127098" name="Shape 13"/>
          <p:cNvSpPr/>
          <p:nvPr/>
        </p:nvSpPr>
        <p:spPr bwMode="auto">
          <a:xfrm>
            <a:off x="4846320" y="217627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666247540" name="Shape 14"/>
          <p:cNvSpPr/>
          <p:nvPr/>
        </p:nvSpPr>
        <p:spPr bwMode="auto">
          <a:xfrm>
            <a:off x="4315968" y="2176272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51828059" name="Text 15"/>
          <p:cNvSpPr/>
          <p:nvPr/>
        </p:nvSpPr>
        <p:spPr bwMode="auto">
          <a:xfrm>
            <a:off x="4315968" y="2176272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750" b="1">
                <a:solidFill>
                  <a:srgbClr val="00B4D8"/>
                </a:solidFill>
              </a:rPr>
              <a:t>Assignment Phase</a:t>
            </a:r>
            <a:endParaRPr lang="en-US" sz="750"/>
          </a:p>
        </p:txBody>
      </p:sp>
      <p:sp>
        <p:nvSpPr>
          <p:cNvPr id="908413360" name="Text 16"/>
          <p:cNvSpPr/>
          <p:nvPr/>
        </p:nvSpPr>
        <p:spPr bwMode="auto">
          <a:xfrm>
            <a:off x="256032" y="221284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Sequential for-loop: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for i in 0..N → find min dist</a:t>
            </a:r>
            <a:endParaRPr lang="en-US" sz="900"/>
          </a:p>
        </p:txBody>
      </p:sp>
      <p:sp>
        <p:nvSpPr>
          <p:cNvPr id="82915940" name="Text 17"/>
          <p:cNvSpPr/>
          <p:nvPr/>
        </p:nvSpPr>
        <p:spPr bwMode="auto">
          <a:xfrm>
            <a:off x="4919471" y="221284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__global__ kernel: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Thread i ↔ Point i (massively parallel)</a:t>
            </a:r>
            <a:endParaRPr lang="en-US" sz="900"/>
          </a:p>
        </p:txBody>
      </p:sp>
      <p:sp>
        <p:nvSpPr>
          <p:cNvPr id="1005156421" name="Shape 18"/>
          <p:cNvSpPr/>
          <p:nvPr/>
        </p:nvSpPr>
        <p:spPr bwMode="auto">
          <a:xfrm>
            <a:off x="182880" y="2889504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246513655" name="Shape 19"/>
          <p:cNvSpPr/>
          <p:nvPr/>
        </p:nvSpPr>
        <p:spPr bwMode="auto">
          <a:xfrm>
            <a:off x="4846320" y="2889504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590731950" name="Shape 20"/>
          <p:cNvSpPr/>
          <p:nvPr/>
        </p:nvSpPr>
        <p:spPr bwMode="auto">
          <a:xfrm>
            <a:off x="4315968" y="2889504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54414306" name="Text 21"/>
          <p:cNvSpPr/>
          <p:nvPr/>
        </p:nvSpPr>
        <p:spPr bwMode="auto">
          <a:xfrm>
            <a:off x="4315968" y="2889504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750" b="1">
                <a:solidFill>
                  <a:srgbClr val="00B4D8"/>
                </a:solidFill>
              </a:rPr>
              <a:t>Changed Flag</a:t>
            </a:r>
            <a:endParaRPr lang="en-US" sz="750"/>
          </a:p>
        </p:txBody>
      </p:sp>
      <p:sp>
        <p:nvSpPr>
          <p:cNvPr id="841669486" name="Text 22"/>
          <p:cNvSpPr/>
          <p:nvPr/>
        </p:nvSpPr>
        <p:spPr bwMode="auto">
          <a:xfrm>
            <a:off x="256032" y="292608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bool changed = true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Simple branch on CPU</a:t>
            </a:r>
            <a:endParaRPr lang="en-US" sz="900"/>
          </a:p>
        </p:txBody>
      </p:sp>
      <p:sp>
        <p:nvSpPr>
          <p:cNvPr id="712937736" name="Text 23"/>
          <p:cNvSpPr/>
          <p:nvPr/>
        </p:nvSpPr>
        <p:spPr bwMode="auto">
          <a:xfrm>
            <a:off x="4919471" y="292608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atomicExch(flag,1) on GPU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Race-condition-free atomic op</a:t>
            </a:r>
            <a:endParaRPr lang="en-US" sz="900"/>
          </a:p>
        </p:txBody>
      </p:sp>
      <p:sp>
        <p:nvSpPr>
          <p:cNvPr id="1757990013" name="Shape 24"/>
          <p:cNvSpPr/>
          <p:nvPr/>
        </p:nvSpPr>
        <p:spPr bwMode="auto">
          <a:xfrm>
            <a:off x="182880" y="3602735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791526751" name="Shape 25"/>
          <p:cNvSpPr/>
          <p:nvPr/>
        </p:nvSpPr>
        <p:spPr bwMode="auto">
          <a:xfrm>
            <a:off x="4846320" y="3602735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1082031684" name="Shape 26"/>
          <p:cNvSpPr/>
          <p:nvPr/>
        </p:nvSpPr>
        <p:spPr bwMode="auto">
          <a:xfrm>
            <a:off x="4315968" y="3602735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37715505" name="Text 27"/>
          <p:cNvSpPr/>
          <p:nvPr/>
        </p:nvSpPr>
        <p:spPr bwMode="auto">
          <a:xfrm>
            <a:off x="4315968" y="3602735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750" b="1">
                <a:solidFill>
                  <a:srgbClr val="00B4D8"/>
                </a:solidFill>
              </a:rPr>
              <a:t>Centroid Update</a:t>
            </a:r>
            <a:endParaRPr lang="en-US" sz="750"/>
          </a:p>
        </p:txBody>
      </p:sp>
      <p:sp>
        <p:nvSpPr>
          <p:cNvPr id="2022199397" name="Text 28"/>
          <p:cNvSpPr/>
          <p:nvPr/>
        </p:nvSpPr>
        <p:spPr bwMode="auto">
          <a:xfrm>
            <a:off x="256032" y="363931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Sequential accumulation: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for i → sum += data[i]</a:t>
            </a:r>
            <a:endParaRPr lang="en-US" sz="900"/>
          </a:p>
        </p:txBody>
      </p:sp>
      <p:sp>
        <p:nvSpPr>
          <p:cNvPr id="886146713" name="Text 29"/>
          <p:cNvSpPr/>
          <p:nvPr/>
        </p:nvSpPr>
        <p:spPr bwMode="auto">
          <a:xfrm>
            <a:off x="4919471" y="363931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atomicAdd per point per dim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All threads accumulate concurrently</a:t>
            </a:r>
            <a:endParaRPr lang="en-US" sz="900"/>
          </a:p>
        </p:txBody>
      </p:sp>
      <p:sp>
        <p:nvSpPr>
          <p:cNvPr id="872596834" name="Shape 30"/>
          <p:cNvSpPr/>
          <p:nvPr/>
        </p:nvSpPr>
        <p:spPr bwMode="auto">
          <a:xfrm>
            <a:off x="182880" y="4315968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1398294355" name="Shape 31"/>
          <p:cNvSpPr/>
          <p:nvPr/>
        </p:nvSpPr>
        <p:spPr bwMode="auto">
          <a:xfrm>
            <a:off x="4846320" y="4315968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1342396289" name="Shape 32"/>
          <p:cNvSpPr/>
          <p:nvPr/>
        </p:nvSpPr>
        <p:spPr bwMode="auto">
          <a:xfrm>
            <a:off x="4315968" y="4315968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94904412" name="Text 33"/>
          <p:cNvSpPr/>
          <p:nvPr/>
        </p:nvSpPr>
        <p:spPr bwMode="auto">
          <a:xfrm>
            <a:off x="4315968" y="4315968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750" b="1">
                <a:solidFill>
                  <a:srgbClr val="00B4D8"/>
                </a:solidFill>
              </a:rPr>
              <a:t>Division (new centroid)</a:t>
            </a:r>
            <a:endParaRPr lang="en-US" sz="750"/>
          </a:p>
        </p:txBody>
      </p:sp>
      <p:sp>
        <p:nvSpPr>
          <p:cNvPr id="933725847" name="Text 34"/>
          <p:cNvSpPr/>
          <p:nvPr/>
        </p:nvSpPr>
        <p:spPr bwMode="auto">
          <a:xfrm>
            <a:off x="256032" y="435254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CPU: divide by count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Same as GPU version</a:t>
            </a:r>
            <a:endParaRPr lang="en-US" sz="900"/>
          </a:p>
        </p:txBody>
      </p:sp>
      <p:sp>
        <p:nvSpPr>
          <p:cNvPr id="966273713" name="Text 35"/>
          <p:cNvSpPr/>
          <p:nvPr/>
        </p:nvSpPr>
        <p:spPr bwMode="auto">
          <a:xfrm>
            <a:off x="4919471" y="435254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GPU accumulate → copy to CPU → divide</a:t>
            </a:r>
            <a:endParaRPr lang="en-US" sz="900"/>
          </a:p>
          <a:p>
            <a:pPr marL="0" indent="0">
              <a:buNone/>
              <a:defRPr/>
            </a:pPr>
            <a:r>
              <a:rPr lang="en-US" sz="900">
                <a:solidFill>
                  <a:srgbClr val="0D1B2A"/>
                </a:solidFill>
              </a:rPr>
              <a:t>GPU can't easily do this step in parallel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837262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27137456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FFFFF"/>
                </a:solidFill>
              </a:rPr>
              <a:t>MPI Implementation — How It Works</a:t>
            </a:r>
            <a:endParaRPr lang="en-US" sz="2400"/>
          </a:p>
        </p:txBody>
      </p:sp>
      <p:sp>
        <p:nvSpPr>
          <p:cNvPr id="814054511" name="Shape 2"/>
          <p:cNvSpPr/>
          <p:nvPr/>
        </p:nvSpPr>
        <p:spPr bwMode="auto">
          <a:xfrm>
            <a:off x="228600" y="1051560"/>
            <a:ext cx="1463040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937806762" name="Text 3"/>
          <p:cNvSpPr/>
          <p:nvPr/>
        </p:nvSpPr>
        <p:spPr bwMode="auto">
          <a:xfrm>
            <a:off x="228600" y="1051560"/>
            <a:ext cx="14630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Rank 0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Reads Data</a:t>
            </a:r>
            <a:endParaRPr lang="en-US" sz="900"/>
          </a:p>
        </p:txBody>
      </p:sp>
      <p:sp>
        <p:nvSpPr>
          <p:cNvPr id="351269444" name="Shape 4"/>
          <p:cNvSpPr/>
          <p:nvPr/>
        </p:nvSpPr>
        <p:spPr bwMode="auto">
          <a:xfrm>
            <a:off x="169164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1082787375" name="Shape 5"/>
          <p:cNvSpPr/>
          <p:nvPr/>
        </p:nvSpPr>
        <p:spPr bwMode="auto">
          <a:xfrm rot="2700000">
            <a:off x="169164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485939672" name="Shape 6"/>
          <p:cNvSpPr/>
          <p:nvPr/>
        </p:nvSpPr>
        <p:spPr bwMode="auto">
          <a:xfrm>
            <a:off x="1874520" y="1051560"/>
            <a:ext cx="1371600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448585523" name="Text 7"/>
          <p:cNvSpPr/>
          <p:nvPr/>
        </p:nvSpPr>
        <p:spPr bwMode="auto">
          <a:xfrm>
            <a:off x="1874520" y="105156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MPI_Bcast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Header</a:t>
            </a:r>
            <a:endParaRPr lang="en-US" sz="900"/>
          </a:p>
        </p:txBody>
      </p:sp>
      <p:sp>
        <p:nvSpPr>
          <p:cNvPr id="1390400970" name="Shape 8"/>
          <p:cNvSpPr/>
          <p:nvPr/>
        </p:nvSpPr>
        <p:spPr bwMode="auto">
          <a:xfrm>
            <a:off x="324612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601978583" name="Shape 9"/>
          <p:cNvSpPr/>
          <p:nvPr/>
        </p:nvSpPr>
        <p:spPr bwMode="auto">
          <a:xfrm rot="2700000">
            <a:off x="324612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2000279975" name="Shape 10"/>
          <p:cNvSpPr/>
          <p:nvPr/>
        </p:nvSpPr>
        <p:spPr bwMode="auto">
          <a:xfrm>
            <a:off x="3429000" y="1051560"/>
            <a:ext cx="1463040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202167129" name="Text 11"/>
          <p:cNvSpPr/>
          <p:nvPr/>
        </p:nvSpPr>
        <p:spPr bwMode="auto">
          <a:xfrm>
            <a:off x="3429000" y="1051560"/>
            <a:ext cx="14630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MPI_Scatterv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Split N/P rows</a:t>
            </a:r>
            <a:endParaRPr lang="en-US" sz="900"/>
          </a:p>
        </p:txBody>
      </p:sp>
      <p:sp>
        <p:nvSpPr>
          <p:cNvPr id="2133748925" name="Shape 12"/>
          <p:cNvSpPr/>
          <p:nvPr/>
        </p:nvSpPr>
        <p:spPr bwMode="auto">
          <a:xfrm>
            <a:off x="4892039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2126132670" name="Shape 13"/>
          <p:cNvSpPr/>
          <p:nvPr/>
        </p:nvSpPr>
        <p:spPr bwMode="auto">
          <a:xfrm rot="2700000">
            <a:off x="4892039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782962767" name="Shape 14"/>
          <p:cNvSpPr/>
          <p:nvPr/>
        </p:nvSpPr>
        <p:spPr bwMode="auto">
          <a:xfrm>
            <a:off x="5074920" y="1051560"/>
            <a:ext cx="1371600" cy="86868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986489935" name="Text 15"/>
          <p:cNvSpPr/>
          <p:nvPr/>
        </p:nvSpPr>
        <p:spPr bwMode="auto">
          <a:xfrm>
            <a:off x="5074920" y="105156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Local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Assignment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(parallel)</a:t>
            </a:r>
            <a:endParaRPr lang="en-US" sz="900"/>
          </a:p>
        </p:txBody>
      </p:sp>
      <p:sp>
        <p:nvSpPr>
          <p:cNvPr id="221020024" name="Shape 16"/>
          <p:cNvSpPr/>
          <p:nvPr/>
        </p:nvSpPr>
        <p:spPr bwMode="auto">
          <a:xfrm>
            <a:off x="644652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1364757760" name="Shape 17"/>
          <p:cNvSpPr/>
          <p:nvPr/>
        </p:nvSpPr>
        <p:spPr bwMode="auto">
          <a:xfrm rot="2700000">
            <a:off x="644652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772299435" name="Shape 18"/>
          <p:cNvSpPr/>
          <p:nvPr/>
        </p:nvSpPr>
        <p:spPr bwMode="auto">
          <a:xfrm>
            <a:off x="6629400" y="1051560"/>
            <a:ext cx="1463040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531682080" name="Text 19"/>
          <p:cNvSpPr/>
          <p:nvPr/>
        </p:nvSpPr>
        <p:spPr bwMode="auto">
          <a:xfrm>
            <a:off x="6629400" y="1051560"/>
            <a:ext cx="14630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MPI_Allreduce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Global centroid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sums</a:t>
            </a:r>
            <a:endParaRPr lang="en-US" sz="900"/>
          </a:p>
        </p:txBody>
      </p:sp>
      <p:sp>
        <p:nvSpPr>
          <p:cNvPr id="1349873474" name="Shape 20"/>
          <p:cNvSpPr/>
          <p:nvPr/>
        </p:nvSpPr>
        <p:spPr bwMode="auto">
          <a:xfrm>
            <a:off x="809244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1169101227" name="Shape 21"/>
          <p:cNvSpPr/>
          <p:nvPr/>
        </p:nvSpPr>
        <p:spPr bwMode="auto">
          <a:xfrm rot="2700000">
            <a:off x="809244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69330631" name="Shape 22"/>
          <p:cNvSpPr/>
          <p:nvPr/>
        </p:nvSpPr>
        <p:spPr bwMode="auto">
          <a:xfrm>
            <a:off x="8275320" y="1051560"/>
            <a:ext cx="6858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143233817" name="Text 23"/>
          <p:cNvSpPr/>
          <p:nvPr/>
        </p:nvSpPr>
        <p:spPr bwMode="auto">
          <a:xfrm>
            <a:off x="8275320" y="1051560"/>
            <a:ext cx="6858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Repeat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until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convergence</a:t>
            </a:r>
            <a:endParaRPr lang="en-US" sz="900"/>
          </a:p>
        </p:txBody>
      </p:sp>
      <p:sp>
        <p:nvSpPr>
          <p:cNvPr id="930543467" name="Text 24"/>
          <p:cNvSpPr/>
          <p:nvPr/>
        </p:nvSpPr>
        <p:spPr bwMode="auto">
          <a:xfrm>
            <a:off x="274320" y="2103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0D1B2A"/>
                </a:solidFill>
              </a:rPr>
              <a:t>4 MPI Processes — each owns N/4 points:</a:t>
            </a:r>
            <a:endParaRPr lang="en-US" sz="1200"/>
          </a:p>
        </p:txBody>
      </p:sp>
      <p:sp>
        <p:nvSpPr>
          <p:cNvPr id="632867818" name="Shape 25"/>
          <p:cNvSpPr/>
          <p:nvPr/>
        </p:nvSpPr>
        <p:spPr bwMode="auto">
          <a:xfrm>
            <a:off x="27432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045666247" name="Shape 26"/>
          <p:cNvSpPr/>
          <p:nvPr/>
        </p:nvSpPr>
        <p:spPr bwMode="auto">
          <a:xfrm>
            <a:off x="274320" y="2468880"/>
            <a:ext cx="201168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16961448" name="Text 27"/>
          <p:cNvSpPr/>
          <p:nvPr/>
        </p:nvSpPr>
        <p:spPr bwMode="auto">
          <a:xfrm>
            <a:off x="27432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Rank 0</a:t>
            </a:r>
            <a:endParaRPr lang="en-US" sz="1100"/>
          </a:p>
        </p:txBody>
      </p:sp>
      <p:sp>
        <p:nvSpPr>
          <p:cNvPr id="742549725" name="Shape 28"/>
          <p:cNvSpPr/>
          <p:nvPr/>
        </p:nvSpPr>
        <p:spPr bwMode="auto">
          <a:xfrm>
            <a:off x="384048" y="2980944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07595451" name="Text 29"/>
          <p:cNvSpPr/>
          <p:nvPr/>
        </p:nvSpPr>
        <p:spPr bwMode="auto">
          <a:xfrm>
            <a:off x="54864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Reads stdin</a:t>
            </a:r>
            <a:endParaRPr lang="en-US" sz="850"/>
          </a:p>
        </p:txBody>
      </p:sp>
      <p:sp>
        <p:nvSpPr>
          <p:cNvPr id="1400418678" name="Shape 30"/>
          <p:cNvSpPr/>
          <p:nvPr/>
        </p:nvSpPr>
        <p:spPr bwMode="auto">
          <a:xfrm>
            <a:off x="384048" y="336499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05435588" name="Text 31"/>
          <p:cNvSpPr/>
          <p:nvPr/>
        </p:nvSpPr>
        <p:spPr bwMode="auto">
          <a:xfrm>
            <a:off x="54864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Scatters data</a:t>
            </a:r>
            <a:endParaRPr lang="en-US" sz="850"/>
          </a:p>
        </p:txBody>
      </p:sp>
      <p:sp>
        <p:nvSpPr>
          <p:cNvPr id="1383087112" name="Shape 32"/>
          <p:cNvSpPr/>
          <p:nvPr/>
        </p:nvSpPr>
        <p:spPr bwMode="auto">
          <a:xfrm>
            <a:off x="384048" y="3749040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80923456" name="Text 33"/>
          <p:cNvSpPr/>
          <p:nvPr/>
        </p:nvSpPr>
        <p:spPr bwMode="auto">
          <a:xfrm>
            <a:off x="54864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Picks centroids</a:t>
            </a:r>
            <a:endParaRPr lang="en-US" sz="850"/>
          </a:p>
        </p:txBody>
      </p:sp>
      <p:sp>
        <p:nvSpPr>
          <p:cNvPr id="2047735020" name="Shape 34"/>
          <p:cNvSpPr/>
          <p:nvPr/>
        </p:nvSpPr>
        <p:spPr bwMode="auto">
          <a:xfrm>
            <a:off x="384048" y="4133088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44240062" name="Text 35"/>
          <p:cNvSpPr/>
          <p:nvPr/>
        </p:nvSpPr>
        <p:spPr bwMode="auto">
          <a:xfrm>
            <a:off x="54864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Gathers results</a:t>
            </a:r>
            <a:endParaRPr lang="en-US" sz="850"/>
          </a:p>
        </p:txBody>
      </p:sp>
      <p:sp>
        <p:nvSpPr>
          <p:cNvPr id="690949593" name="Shape 36"/>
          <p:cNvSpPr/>
          <p:nvPr/>
        </p:nvSpPr>
        <p:spPr bwMode="auto">
          <a:xfrm>
            <a:off x="384048" y="4517136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15010669" name="Text 37"/>
          <p:cNvSpPr/>
          <p:nvPr/>
        </p:nvSpPr>
        <p:spPr bwMode="auto">
          <a:xfrm>
            <a:off x="54864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Prints output</a:t>
            </a:r>
            <a:endParaRPr lang="en-US" sz="850"/>
          </a:p>
        </p:txBody>
      </p:sp>
      <p:sp>
        <p:nvSpPr>
          <p:cNvPr id="715473039" name="Shape 38"/>
          <p:cNvSpPr/>
          <p:nvPr/>
        </p:nvSpPr>
        <p:spPr bwMode="auto">
          <a:xfrm>
            <a:off x="246888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F4A261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206234214" name="Shape 39"/>
          <p:cNvSpPr/>
          <p:nvPr/>
        </p:nvSpPr>
        <p:spPr bwMode="auto">
          <a:xfrm>
            <a:off x="2468880" y="2468880"/>
            <a:ext cx="2011680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25682602" name="Text 40"/>
          <p:cNvSpPr/>
          <p:nvPr/>
        </p:nvSpPr>
        <p:spPr bwMode="auto">
          <a:xfrm>
            <a:off x="246888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Rank 1</a:t>
            </a:r>
            <a:endParaRPr lang="en-US" sz="1100"/>
          </a:p>
        </p:txBody>
      </p:sp>
      <p:sp>
        <p:nvSpPr>
          <p:cNvPr id="1538790623" name="Shape 41"/>
          <p:cNvSpPr/>
          <p:nvPr/>
        </p:nvSpPr>
        <p:spPr bwMode="auto">
          <a:xfrm>
            <a:off x="2578608" y="2980944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21655050" name="Text 42"/>
          <p:cNvSpPr/>
          <p:nvPr/>
        </p:nvSpPr>
        <p:spPr bwMode="auto">
          <a:xfrm>
            <a:off x="274320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Receives data slice</a:t>
            </a:r>
            <a:endParaRPr lang="en-US" sz="850"/>
          </a:p>
        </p:txBody>
      </p:sp>
      <p:sp>
        <p:nvSpPr>
          <p:cNvPr id="1066786086" name="Shape 43"/>
          <p:cNvSpPr/>
          <p:nvPr/>
        </p:nvSpPr>
        <p:spPr bwMode="auto">
          <a:xfrm>
            <a:off x="2578608" y="336499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29321106" name="Text 44"/>
          <p:cNvSpPr/>
          <p:nvPr/>
        </p:nvSpPr>
        <p:spPr bwMode="auto">
          <a:xfrm>
            <a:off x="27432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Assigns local pts</a:t>
            </a:r>
            <a:endParaRPr lang="en-US" sz="850"/>
          </a:p>
        </p:txBody>
      </p:sp>
      <p:sp>
        <p:nvSpPr>
          <p:cNvPr id="465283395" name="Shape 45"/>
          <p:cNvSpPr/>
          <p:nvPr/>
        </p:nvSpPr>
        <p:spPr bwMode="auto">
          <a:xfrm>
            <a:off x="2578608" y="3749040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14443322" name="Text 46"/>
          <p:cNvSpPr/>
          <p:nvPr/>
        </p:nvSpPr>
        <p:spPr bwMode="auto">
          <a:xfrm>
            <a:off x="274320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Sends partial sums</a:t>
            </a:r>
            <a:endParaRPr lang="en-US" sz="850"/>
          </a:p>
        </p:txBody>
      </p:sp>
      <p:sp>
        <p:nvSpPr>
          <p:cNvPr id="316089037" name="Shape 47"/>
          <p:cNvSpPr/>
          <p:nvPr/>
        </p:nvSpPr>
        <p:spPr bwMode="auto">
          <a:xfrm>
            <a:off x="2578608" y="4133088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10578268" name="Text 48"/>
          <p:cNvSpPr/>
          <p:nvPr/>
        </p:nvSpPr>
        <p:spPr bwMode="auto">
          <a:xfrm>
            <a:off x="274320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Receives new centroids</a:t>
            </a:r>
            <a:endParaRPr lang="en-US" sz="850"/>
          </a:p>
        </p:txBody>
      </p:sp>
      <p:sp>
        <p:nvSpPr>
          <p:cNvPr id="137890125" name="Shape 49"/>
          <p:cNvSpPr/>
          <p:nvPr/>
        </p:nvSpPr>
        <p:spPr bwMode="auto">
          <a:xfrm>
            <a:off x="2578608" y="4517136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90008483" name="Text 50"/>
          <p:cNvSpPr/>
          <p:nvPr/>
        </p:nvSpPr>
        <p:spPr bwMode="auto">
          <a:xfrm>
            <a:off x="274320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Loops to convergence</a:t>
            </a:r>
            <a:endParaRPr lang="en-US" sz="850"/>
          </a:p>
        </p:txBody>
      </p:sp>
      <p:sp>
        <p:nvSpPr>
          <p:cNvPr id="1259865841" name="Shape 51"/>
          <p:cNvSpPr/>
          <p:nvPr/>
        </p:nvSpPr>
        <p:spPr bwMode="auto">
          <a:xfrm>
            <a:off x="466344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2DC653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64281045" name="Shape 52"/>
          <p:cNvSpPr/>
          <p:nvPr/>
        </p:nvSpPr>
        <p:spPr bwMode="auto">
          <a:xfrm>
            <a:off x="4663440" y="2468880"/>
            <a:ext cx="2011680" cy="347472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1471024782" name="Text 53"/>
          <p:cNvSpPr/>
          <p:nvPr/>
        </p:nvSpPr>
        <p:spPr bwMode="auto">
          <a:xfrm>
            <a:off x="466344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Rank 2</a:t>
            </a:r>
            <a:endParaRPr lang="en-US" sz="1100"/>
          </a:p>
        </p:txBody>
      </p:sp>
      <p:sp>
        <p:nvSpPr>
          <p:cNvPr id="457125668" name="Shape 54"/>
          <p:cNvSpPr/>
          <p:nvPr/>
        </p:nvSpPr>
        <p:spPr bwMode="auto">
          <a:xfrm>
            <a:off x="4773168" y="2980944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1362146152" name="Text 55"/>
          <p:cNvSpPr/>
          <p:nvPr/>
        </p:nvSpPr>
        <p:spPr bwMode="auto">
          <a:xfrm>
            <a:off x="493776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Receives data slice</a:t>
            </a:r>
            <a:endParaRPr lang="en-US" sz="850"/>
          </a:p>
        </p:txBody>
      </p:sp>
      <p:sp>
        <p:nvSpPr>
          <p:cNvPr id="2121043942" name="Shape 56"/>
          <p:cNvSpPr/>
          <p:nvPr/>
        </p:nvSpPr>
        <p:spPr bwMode="auto">
          <a:xfrm>
            <a:off x="4773168" y="3364992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2094241643" name="Text 57"/>
          <p:cNvSpPr/>
          <p:nvPr/>
        </p:nvSpPr>
        <p:spPr bwMode="auto">
          <a:xfrm>
            <a:off x="493776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Assigns local pts</a:t>
            </a:r>
            <a:endParaRPr lang="en-US" sz="850"/>
          </a:p>
        </p:txBody>
      </p:sp>
      <p:sp>
        <p:nvSpPr>
          <p:cNvPr id="2030005666" name="Shape 58"/>
          <p:cNvSpPr/>
          <p:nvPr/>
        </p:nvSpPr>
        <p:spPr bwMode="auto">
          <a:xfrm>
            <a:off x="4773168" y="3749040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1048584748" name="Text 59"/>
          <p:cNvSpPr/>
          <p:nvPr/>
        </p:nvSpPr>
        <p:spPr bwMode="auto">
          <a:xfrm>
            <a:off x="493776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Sends partial sums</a:t>
            </a:r>
            <a:endParaRPr lang="en-US" sz="850"/>
          </a:p>
        </p:txBody>
      </p:sp>
      <p:sp>
        <p:nvSpPr>
          <p:cNvPr id="892099171" name="Shape 60"/>
          <p:cNvSpPr/>
          <p:nvPr/>
        </p:nvSpPr>
        <p:spPr bwMode="auto">
          <a:xfrm>
            <a:off x="4773168" y="4133088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1690974717" name="Text 61"/>
          <p:cNvSpPr/>
          <p:nvPr/>
        </p:nvSpPr>
        <p:spPr bwMode="auto">
          <a:xfrm>
            <a:off x="493776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Receives new centroids</a:t>
            </a:r>
            <a:endParaRPr lang="en-US" sz="850"/>
          </a:p>
        </p:txBody>
      </p:sp>
      <p:sp>
        <p:nvSpPr>
          <p:cNvPr id="1741764797" name="Shape 62"/>
          <p:cNvSpPr/>
          <p:nvPr/>
        </p:nvSpPr>
        <p:spPr bwMode="auto">
          <a:xfrm>
            <a:off x="4773168" y="4517136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702179362" name="Text 63"/>
          <p:cNvSpPr/>
          <p:nvPr/>
        </p:nvSpPr>
        <p:spPr bwMode="auto">
          <a:xfrm>
            <a:off x="493776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Loops to convergence</a:t>
            </a:r>
            <a:endParaRPr lang="en-US" sz="850"/>
          </a:p>
        </p:txBody>
      </p:sp>
      <p:sp>
        <p:nvSpPr>
          <p:cNvPr id="2027881679" name="Shape 64"/>
          <p:cNvSpPr/>
          <p:nvPr/>
        </p:nvSpPr>
        <p:spPr bwMode="auto">
          <a:xfrm>
            <a:off x="685800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FFD166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230435616" name="Shape 65"/>
          <p:cNvSpPr/>
          <p:nvPr/>
        </p:nvSpPr>
        <p:spPr bwMode="auto">
          <a:xfrm>
            <a:off x="6858000" y="2468880"/>
            <a:ext cx="2011680" cy="34747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67291067" name="Text 66"/>
          <p:cNvSpPr/>
          <p:nvPr/>
        </p:nvSpPr>
        <p:spPr bwMode="auto">
          <a:xfrm>
            <a:off x="685800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</a:rPr>
              <a:t>Rank 3</a:t>
            </a:r>
            <a:endParaRPr lang="en-US" sz="1100"/>
          </a:p>
        </p:txBody>
      </p:sp>
      <p:sp>
        <p:nvSpPr>
          <p:cNvPr id="980990444" name="Shape 67"/>
          <p:cNvSpPr/>
          <p:nvPr/>
        </p:nvSpPr>
        <p:spPr bwMode="auto">
          <a:xfrm>
            <a:off x="6967728" y="2980944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3761928" name="Text 68"/>
          <p:cNvSpPr/>
          <p:nvPr/>
        </p:nvSpPr>
        <p:spPr bwMode="auto">
          <a:xfrm>
            <a:off x="713232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Receives data slice</a:t>
            </a:r>
            <a:endParaRPr lang="en-US" sz="850"/>
          </a:p>
        </p:txBody>
      </p:sp>
      <p:sp>
        <p:nvSpPr>
          <p:cNvPr id="1417236825" name="Shape 69"/>
          <p:cNvSpPr/>
          <p:nvPr/>
        </p:nvSpPr>
        <p:spPr bwMode="auto">
          <a:xfrm>
            <a:off x="6967728" y="3364992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64253859" name="Text 70"/>
          <p:cNvSpPr/>
          <p:nvPr/>
        </p:nvSpPr>
        <p:spPr bwMode="auto">
          <a:xfrm>
            <a:off x="713232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Assigns local pts</a:t>
            </a:r>
            <a:endParaRPr lang="en-US" sz="850"/>
          </a:p>
        </p:txBody>
      </p:sp>
      <p:sp>
        <p:nvSpPr>
          <p:cNvPr id="1095859864" name="Shape 71"/>
          <p:cNvSpPr/>
          <p:nvPr/>
        </p:nvSpPr>
        <p:spPr bwMode="auto">
          <a:xfrm>
            <a:off x="6967728" y="3749040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58970488" name="Text 72"/>
          <p:cNvSpPr/>
          <p:nvPr/>
        </p:nvSpPr>
        <p:spPr bwMode="auto">
          <a:xfrm>
            <a:off x="713232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Sends partial sums</a:t>
            </a:r>
            <a:endParaRPr lang="en-US" sz="850"/>
          </a:p>
        </p:txBody>
      </p:sp>
      <p:sp>
        <p:nvSpPr>
          <p:cNvPr id="1600675786" name="Shape 73"/>
          <p:cNvSpPr/>
          <p:nvPr/>
        </p:nvSpPr>
        <p:spPr bwMode="auto">
          <a:xfrm>
            <a:off x="6967728" y="4133088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05063414" name="Text 74"/>
          <p:cNvSpPr/>
          <p:nvPr/>
        </p:nvSpPr>
        <p:spPr bwMode="auto">
          <a:xfrm>
            <a:off x="713232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Receives new centroids</a:t>
            </a:r>
            <a:endParaRPr lang="en-US" sz="850"/>
          </a:p>
        </p:txBody>
      </p:sp>
      <p:sp>
        <p:nvSpPr>
          <p:cNvPr id="1574515837" name="Shape 75"/>
          <p:cNvSpPr/>
          <p:nvPr/>
        </p:nvSpPr>
        <p:spPr bwMode="auto">
          <a:xfrm>
            <a:off x="6967728" y="4517136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80299373" name="Text 76"/>
          <p:cNvSpPr/>
          <p:nvPr/>
        </p:nvSpPr>
        <p:spPr bwMode="auto">
          <a:xfrm>
            <a:off x="713232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0D1B2A"/>
                </a:solidFill>
              </a:rPr>
              <a:t>Loops to convergence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966758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32113464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0D1B2A"/>
                </a:solidFill>
              </a:rPr>
              <a:t>Hardware Platform</a:t>
            </a:r>
            <a:endParaRPr lang="en-US" sz="2600"/>
          </a:p>
        </p:txBody>
      </p:sp>
      <p:sp>
        <p:nvSpPr>
          <p:cNvPr id="1920329313" name="Shape 2"/>
          <p:cNvSpPr/>
          <p:nvPr/>
        </p:nvSpPr>
        <p:spPr bwMode="auto">
          <a:xfrm>
            <a:off x="274320" y="1051560"/>
            <a:ext cx="4114800" cy="3794760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sx="100000" sy="100000" kx="0" ky="0" algn="bl" rotWithShape="0">
              <a:srgbClr val="000000">
                <a:alpha val="30000"/>
              </a:srgbClr>
            </a:outerShdw>
          </a:effectLst>
        </p:spPr>
      </p:sp>
      <p:sp>
        <p:nvSpPr>
          <p:cNvPr id="590507133" name="Text 3"/>
          <p:cNvSpPr/>
          <p:nvPr/>
        </p:nvSpPr>
        <p:spPr bwMode="auto">
          <a:xfrm>
            <a:off x="274320" y="1051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0B4D8"/>
                </a:solidFill>
              </a:rPr>
              <a:t>CPU</a:t>
            </a:r>
            <a:endParaRPr lang="en-US" sz="1300"/>
          </a:p>
        </p:txBody>
      </p:sp>
      <p:pic>
        <p:nvPicPr>
          <p:cNvPr id="29642529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45920" y="1600200"/>
            <a:ext cx="1371600" cy="1371600"/>
          </a:xfrm>
          <a:prstGeom prst="rect">
            <a:avLst/>
          </a:prstGeom>
        </p:spPr>
      </p:pic>
      <p:sp>
        <p:nvSpPr>
          <p:cNvPr id="636141859" name="Text 4"/>
          <p:cNvSpPr/>
          <p:nvPr/>
        </p:nvSpPr>
        <p:spPr bwMode="auto">
          <a:xfrm>
            <a:off x="365760" y="3017519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</a:rPr>
              <a:t>AMD Ryzen 7 7840HS</a:t>
            </a:r>
            <a:endParaRPr lang="en-US" sz="1500"/>
          </a:p>
        </p:txBody>
      </p:sp>
      <p:sp>
        <p:nvSpPr>
          <p:cNvPr id="1993931951" name="Shape 5"/>
          <p:cNvSpPr/>
          <p:nvPr/>
        </p:nvSpPr>
        <p:spPr bwMode="auto">
          <a:xfrm>
            <a:off x="320040" y="3547872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500561691" name="Text 6"/>
          <p:cNvSpPr/>
          <p:nvPr/>
        </p:nvSpPr>
        <p:spPr bwMode="auto">
          <a:xfrm>
            <a:off x="365760" y="35478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Cores / Threads</a:t>
            </a:r>
            <a:endParaRPr lang="en-US" sz="900"/>
          </a:p>
        </p:txBody>
      </p:sp>
      <p:sp>
        <p:nvSpPr>
          <p:cNvPr id="1827888281" name="Text 7"/>
          <p:cNvSpPr/>
          <p:nvPr/>
        </p:nvSpPr>
        <p:spPr bwMode="auto">
          <a:xfrm>
            <a:off x="2468880" y="35478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8C / 16T</a:t>
            </a:r>
            <a:endParaRPr lang="en-US" sz="900"/>
          </a:p>
        </p:txBody>
      </p:sp>
      <p:sp>
        <p:nvSpPr>
          <p:cNvPr id="531107310" name="Shape 8"/>
          <p:cNvSpPr/>
          <p:nvPr/>
        </p:nvSpPr>
        <p:spPr bwMode="auto">
          <a:xfrm>
            <a:off x="320040" y="3794760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189072588" name="Text 9"/>
          <p:cNvSpPr/>
          <p:nvPr/>
        </p:nvSpPr>
        <p:spPr bwMode="auto">
          <a:xfrm>
            <a:off x="365760" y="37947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Base / Boost</a:t>
            </a:r>
            <a:endParaRPr lang="en-US" sz="900"/>
          </a:p>
        </p:txBody>
      </p:sp>
      <p:sp>
        <p:nvSpPr>
          <p:cNvPr id="795998766" name="Text 10"/>
          <p:cNvSpPr/>
          <p:nvPr/>
        </p:nvSpPr>
        <p:spPr bwMode="auto">
          <a:xfrm>
            <a:off x="2468880" y="3794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3.8 / 5.1 GHz</a:t>
            </a:r>
            <a:endParaRPr lang="en-US" sz="900"/>
          </a:p>
        </p:txBody>
      </p:sp>
      <p:sp>
        <p:nvSpPr>
          <p:cNvPr id="723330589" name="Shape 11"/>
          <p:cNvSpPr/>
          <p:nvPr/>
        </p:nvSpPr>
        <p:spPr bwMode="auto">
          <a:xfrm>
            <a:off x="320040" y="4041648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691701356" name="Text 12"/>
          <p:cNvSpPr/>
          <p:nvPr/>
        </p:nvSpPr>
        <p:spPr bwMode="auto">
          <a:xfrm>
            <a:off x="365760" y="40416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Architecture</a:t>
            </a:r>
            <a:endParaRPr lang="en-US" sz="900"/>
          </a:p>
        </p:txBody>
      </p:sp>
      <p:sp>
        <p:nvSpPr>
          <p:cNvPr id="449943408" name="Text 13"/>
          <p:cNvSpPr/>
          <p:nvPr/>
        </p:nvSpPr>
        <p:spPr bwMode="auto">
          <a:xfrm>
            <a:off x="2468880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Zen 4 (TSMC 4nm)</a:t>
            </a:r>
            <a:endParaRPr lang="en-US" sz="900"/>
          </a:p>
        </p:txBody>
      </p:sp>
      <p:sp>
        <p:nvSpPr>
          <p:cNvPr id="542589605" name="Shape 14"/>
          <p:cNvSpPr/>
          <p:nvPr/>
        </p:nvSpPr>
        <p:spPr bwMode="auto">
          <a:xfrm>
            <a:off x="320040" y="4288536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403767563" name="Text 15"/>
          <p:cNvSpPr/>
          <p:nvPr/>
        </p:nvSpPr>
        <p:spPr bwMode="auto">
          <a:xfrm>
            <a:off x="365760" y="42885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L3 Cache</a:t>
            </a:r>
            <a:endParaRPr lang="en-US" sz="900"/>
          </a:p>
        </p:txBody>
      </p:sp>
      <p:sp>
        <p:nvSpPr>
          <p:cNvPr id="1357771350" name="Text 16"/>
          <p:cNvSpPr/>
          <p:nvPr/>
        </p:nvSpPr>
        <p:spPr bwMode="auto">
          <a:xfrm>
            <a:off x="2468880" y="42885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16 MB</a:t>
            </a:r>
            <a:endParaRPr lang="en-US" sz="900"/>
          </a:p>
        </p:txBody>
      </p:sp>
      <p:sp>
        <p:nvSpPr>
          <p:cNvPr id="822703269" name="Shape 17"/>
          <p:cNvSpPr/>
          <p:nvPr/>
        </p:nvSpPr>
        <p:spPr bwMode="auto">
          <a:xfrm>
            <a:off x="320040" y="4535424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348580034" name="Text 18"/>
          <p:cNvSpPr/>
          <p:nvPr/>
        </p:nvSpPr>
        <p:spPr bwMode="auto">
          <a:xfrm>
            <a:off x="365760" y="45354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TDP</a:t>
            </a:r>
            <a:endParaRPr lang="en-US" sz="900"/>
          </a:p>
        </p:txBody>
      </p:sp>
      <p:sp>
        <p:nvSpPr>
          <p:cNvPr id="364525465" name="Text 19"/>
          <p:cNvSpPr/>
          <p:nvPr/>
        </p:nvSpPr>
        <p:spPr bwMode="auto">
          <a:xfrm>
            <a:off x="2468880" y="45354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45W (cTDP 28-54W)</a:t>
            </a:r>
            <a:endParaRPr lang="en-US" sz="900"/>
          </a:p>
        </p:txBody>
      </p:sp>
      <p:sp>
        <p:nvSpPr>
          <p:cNvPr id="1651891497" name="Shape 20"/>
          <p:cNvSpPr/>
          <p:nvPr/>
        </p:nvSpPr>
        <p:spPr bwMode="auto">
          <a:xfrm>
            <a:off x="4754880" y="1051560"/>
            <a:ext cx="4114800" cy="3794760"/>
          </a:xfrm>
          <a:prstGeom prst="rect">
            <a:avLst/>
          </a:prstGeom>
          <a:solidFill>
            <a:srgbClr val="1A2E42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sx="100000" sy="100000" kx="0" ky="0" algn="bl" rotWithShape="0">
              <a:srgbClr val="000000">
                <a:alpha val="30000"/>
              </a:srgbClr>
            </a:outerShdw>
          </a:effectLst>
        </p:spPr>
      </p:sp>
      <p:sp>
        <p:nvSpPr>
          <p:cNvPr id="294866494" name="Text 21"/>
          <p:cNvSpPr/>
          <p:nvPr/>
        </p:nvSpPr>
        <p:spPr bwMode="auto">
          <a:xfrm>
            <a:off x="4754880" y="1051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4A261"/>
                </a:solidFill>
              </a:rPr>
              <a:t>iGPU</a:t>
            </a:r>
            <a:endParaRPr lang="en-US" sz="1300"/>
          </a:p>
        </p:txBody>
      </p:sp>
      <p:pic>
        <p:nvPicPr>
          <p:cNvPr id="173495404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126480" y="1600200"/>
            <a:ext cx="1371600" cy="1371600"/>
          </a:xfrm>
          <a:prstGeom prst="rect">
            <a:avLst/>
          </a:prstGeom>
        </p:spPr>
      </p:pic>
      <p:sp>
        <p:nvSpPr>
          <p:cNvPr id="227135875" name="Text 22"/>
          <p:cNvSpPr/>
          <p:nvPr/>
        </p:nvSpPr>
        <p:spPr bwMode="auto">
          <a:xfrm>
            <a:off x="4846320" y="3017519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</a:rPr>
              <a:t>AMD Radeon 780M</a:t>
            </a:r>
            <a:endParaRPr lang="en-US" sz="1500"/>
          </a:p>
        </p:txBody>
      </p:sp>
      <p:sp>
        <p:nvSpPr>
          <p:cNvPr id="604754054" name="Shape 23"/>
          <p:cNvSpPr/>
          <p:nvPr/>
        </p:nvSpPr>
        <p:spPr bwMode="auto">
          <a:xfrm>
            <a:off x="4800600" y="3547872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046814" name="Text 24"/>
          <p:cNvSpPr/>
          <p:nvPr/>
        </p:nvSpPr>
        <p:spPr bwMode="auto">
          <a:xfrm>
            <a:off x="4846320" y="35478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Architecture</a:t>
            </a:r>
            <a:endParaRPr lang="en-US" sz="900"/>
          </a:p>
        </p:txBody>
      </p:sp>
      <p:sp>
        <p:nvSpPr>
          <p:cNvPr id="833116730" name="Text 25"/>
          <p:cNvSpPr/>
          <p:nvPr/>
        </p:nvSpPr>
        <p:spPr bwMode="auto">
          <a:xfrm>
            <a:off x="6949440" y="35478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RDNA 3</a:t>
            </a:r>
            <a:endParaRPr lang="en-US" sz="900"/>
          </a:p>
        </p:txBody>
      </p:sp>
      <p:sp>
        <p:nvSpPr>
          <p:cNvPr id="1871342008" name="Shape 26"/>
          <p:cNvSpPr/>
          <p:nvPr/>
        </p:nvSpPr>
        <p:spPr bwMode="auto">
          <a:xfrm>
            <a:off x="4800600" y="3794760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253091754" name="Text 27"/>
          <p:cNvSpPr/>
          <p:nvPr/>
        </p:nvSpPr>
        <p:spPr bwMode="auto">
          <a:xfrm>
            <a:off x="4846320" y="37947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Compute Units</a:t>
            </a:r>
            <a:endParaRPr lang="en-US" sz="900"/>
          </a:p>
        </p:txBody>
      </p:sp>
      <p:sp>
        <p:nvSpPr>
          <p:cNvPr id="2134018626" name="Text 28"/>
          <p:cNvSpPr/>
          <p:nvPr/>
        </p:nvSpPr>
        <p:spPr bwMode="auto">
          <a:xfrm>
            <a:off x="6949440" y="3794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12 CU (768 shaders)</a:t>
            </a:r>
            <a:endParaRPr lang="en-US" sz="900"/>
          </a:p>
        </p:txBody>
      </p:sp>
      <p:sp>
        <p:nvSpPr>
          <p:cNvPr id="2054955026" name="Shape 29"/>
          <p:cNvSpPr/>
          <p:nvPr/>
        </p:nvSpPr>
        <p:spPr bwMode="auto">
          <a:xfrm>
            <a:off x="4800600" y="4041648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1996672" name="Text 30"/>
          <p:cNvSpPr/>
          <p:nvPr/>
        </p:nvSpPr>
        <p:spPr bwMode="auto">
          <a:xfrm>
            <a:off x="4846320" y="40416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Memory</a:t>
            </a:r>
            <a:endParaRPr lang="en-US" sz="900"/>
          </a:p>
        </p:txBody>
      </p:sp>
      <p:sp>
        <p:nvSpPr>
          <p:cNvPr id="344660796" name="Text 31"/>
          <p:cNvSpPr/>
          <p:nvPr/>
        </p:nvSpPr>
        <p:spPr bwMode="auto">
          <a:xfrm>
            <a:off x="6949440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Shared system RAM</a:t>
            </a:r>
            <a:endParaRPr lang="en-US" sz="900"/>
          </a:p>
        </p:txBody>
      </p:sp>
      <p:sp>
        <p:nvSpPr>
          <p:cNvPr id="1291531017" name="Shape 32"/>
          <p:cNvSpPr/>
          <p:nvPr/>
        </p:nvSpPr>
        <p:spPr bwMode="auto">
          <a:xfrm>
            <a:off x="4800600" y="4288536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953320730" name="Text 33"/>
          <p:cNvSpPr/>
          <p:nvPr/>
        </p:nvSpPr>
        <p:spPr bwMode="auto">
          <a:xfrm>
            <a:off x="4846320" y="42885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Memory BW</a:t>
            </a:r>
            <a:endParaRPr lang="en-US" sz="900"/>
          </a:p>
        </p:txBody>
      </p:sp>
      <p:sp>
        <p:nvSpPr>
          <p:cNvPr id="1382120780" name="Text 34"/>
          <p:cNvSpPr/>
          <p:nvPr/>
        </p:nvSpPr>
        <p:spPr bwMode="auto">
          <a:xfrm>
            <a:off x="6949440" y="42885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~77 GB/s (DDR5)</a:t>
            </a:r>
            <a:endParaRPr lang="en-US" sz="900"/>
          </a:p>
        </p:txBody>
      </p:sp>
      <p:sp>
        <p:nvSpPr>
          <p:cNvPr id="1166855390" name="Shape 35"/>
          <p:cNvSpPr/>
          <p:nvPr/>
        </p:nvSpPr>
        <p:spPr bwMode="auto">
          <a:xfrm>
            <a:off x="4800600" y="4535424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42184708" name="Text 36"/>
          <p:cNvSpPr/>
          <p:nvPr/>
        </p:nvSpPr>
        <p:spPr bwMode="auto">
          <a:xfrm>
            <a:off x="4846320" y="45354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7FB3C8"/>
                </a:solidFill>
              </a:rPr>
              <a:t>API Used</a:t>
            </a:r>
            <a:endParaRPr lang="en-US" sz="900"/>
          </a:p>
        </p:txBody>
      </p:sp>
      <p:sp>
        <p:nvSpPr>
          <p:cNvPr id="1491044811" name="Text 37"/>
          <p:cNvSpPr/>
          <p:nvPr/>
        </p:nvSpPr>
        <p:spPr bwMode="auto">
          <a:xfrm>
            <a:off x="6949440" y="45354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FFFFF"/>
                </a:solidFill>
              </a:rPr>
              <a:t>HIP (ROCm)</a:t>
            </a:r>
            <a:endParaRPr lang="en-US" sz="900"/>
          </a:p>
        </p:txBody>
      </p:sp>
      <p:sp>
        <p:nvSpPr>
          <p:cNvPr id="701007308" name="Shape 38"/>
          <p:cNvSpPr/>
          <p:nvPr/>
        </p:nvSpPr>
        <p:spPr bwMode="auto">
          <a:xfrm>
            <a:off x="274320" y="4892039"/>
            <a:ext cx="8595360" cy="201168"/>
          </a:xfrm>
          <a:prstGeom prst="rect">
            <a:avLst/>
          </a:prstGeom>
          <a:solidFill>
            <a:srgbClr val="162538"/>
          </a:solidFill>
          <a:ln w="12700">
            <a:solidFill>
              <a:srgbClr val="162538"/>
            </a:solidFill>
            <a:prstDash val="solid"/>
          </a:ln>
        </p:spPr>
      </p:sp>
      <p:sp>
        <p:nvSpPr>
          <p:cNvPr id="530500872" name="Text 39"/>
          <p:cNvSpPr/>
          <p:nvPr/>
        </p:nvSpPr>
        <p:spPr bwMode="auto">
          <a:xfrm>
            <a:off x="274320" y="4892039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50">
                <a:solidFill>
                  <a:srgbClr val="7FB3C8"/>
                </a:solidFill>
              </a:rPr>
              <a:t>★  iGPU shares system memory — no PCIe transfer bottleneck, but bandwidth is constrained vs. discrete GPU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041925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515734350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</a:rPr>
              <a:t>Benchmark Results — Execution Time (ms)</a:t>
            </a:r>
            <a:endParaRPr lang="en-US" sz="2200"/>
          </a:p>
        </p:txBody>
      </p:sp>
      <p:graphicFrame>
        <p:nvGraphicFramePr>
          <p:cNvPr id="2036286595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1250224" y="987551"/>
          <a:ext cx="6425596" cy="426719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301386"/>
                <a:gridCol w="1057376"/>
                <a:gridCol w="1016708"/>
                <a:gridCol w="1016708"/>
                <a:gridCol w="1016708"/>
                <a:gridCol w="1016708"/>
              </a:tblGrid>
              <a:tr h="25979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Points / Dim / K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Sequential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4A6275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Scikit-Learn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D166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HIP (GPU)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MPI 4P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4A26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50362850" name="Table 1"/>
          <p:cNvGraphicFramePr>
            <a:graphicFrameLocks xmlns:a="http://schemas.openxmlformats.org/drawingml/2006/main" noGrp="1"/>
          </p:cNvGraphicFramePr>
          <p:nvPr/>
        </p:nvGraphicFramePr>
        <p:xfrm rot="0">
          <a:off x="1250224" y="1484759"/>
          <a:ext cx="6425596" cy="174873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301386"/>
                <a:gridCol w="1057376"/>
                <a:gridCol w="1016708"/>
                <a:gridCol w="1016708"/>
                <a:gridCol w="1016708"/>
                <a:gridCol w="1016708"/>
              </a:tblGrid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DS1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950">
                          <a:solidFill>
                            <a:srgbClr val="4A6275"/>
                          </a:solidFill>
                        </a:rPr>
                        <a:t>250K, 16D, 32K</a:t>
                      </a:r>
                      <a:endParaRPr lang="en-US" sz="9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4,965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6B3E"/>
                          </a:solidFill>
                        </a:rPr>
                        <a:t>396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2,122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1,484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DS2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950">
                          <a:solidFill>
                            <a:srgbClr val="4A6275"/>
                          </a:solidFill>
                        </a:rPr>
                        <a:t>700K, 32D, 32K</a:t>
                      </a:r>
                      <a:endParaRPr lang="en-US" sz="9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39,605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6B3E"/>
                          </a:solidFill>
                        </a:rPr>
                        <a:t>1,722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15,031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9,502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DS3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950">
                          <a:solidFill>
                            <a:srgbClr val="4A6275"/>
                          </a:solidFill>
                        </a:rPr>
                        <a:t>1.4M, 32D, 64K</a:t>
                      </a:r>
                      <a:endParaRPr lang="en-US" sz="9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212,183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6B3E"/>
                          </a:solidFill>
                        </a:rPr>
                        <a:t>8,109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48,300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53,818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DS4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950">
                          <a:solidFill>
                            <a:srgbClr val="4A6275"/>
                          </a:solidFill>
                        </a:rPr>
                        <a:t>3.5M, 32D, 64K</a:t>
                      </a:r>
                      <a:endParaRPr lang="en-US" sz="9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306,346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6B3E"/>
                          </a:solidFill>
                        </a:rPr>
                        <a:t>21,833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77,633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160,434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DS5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950">
                          <a:solidFill>
                            <a:srgbClr val="4A6275"/>
                          </a:solidFill>
                        </a:rPr>
                        <a:t>3.5M, 32D, 128K</a:t>
                      </a:r>
                      <a:endParaRPr lang="en-US" sz="9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613,309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6B3E"/>
                          </a:solidFill>
                        </a:rPr>
                        <a:t>31,115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142,613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>
                          <a:solidFill>
                            <a:srgbClr val="0D1B2A"/>
                          </a:solidFill>
                        </a:rPr>
                        <a:t>156,254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</a:tr>
            </a:tbl>
          </a:graphicData>
        </a:graphic>
      </p:graphicFrame>
      <p:sp>
        <p:nvSpPr>
          <p:cNvPr id="172012397" name="Text 2"/>
          <p:cNvSpPr/>
          <p:nvPr/>
        </p:nvSpPr>
        <p:spPr bwMode="auto">
          <a:xfrm>
            <a:off x="182880" y="274864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4A6275"/>
                </a:solidFill>
              </a:rPr>
              <a:t>★ Green = best parallel time per dataset    All times in milliseconds (lower = better)</a:t>
            </a:r>
            <a:endParaRPr lang="en-US" sz="900"/>
          </a:p>
        </p:txBody>
      </p:sp>
      <p:sp>
        <p:nvSpPr>
          <p:cNvPr id="245522986" name="Shape 3"/>
          <p:cNvSpPr/>
          <p:nvPr/>
        </p:nvSpPr>
        <p:spPr bwMode="auto">
          <a:xfrm flipH="0" flipV="0">
            <a:off x="1250224" y="3077344"/>
            <a:ext cx="6425596" cy="230653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157037404" name="Text 4"/>
          <p:cNvSpPr/>
          <p:nvPr/>
        </p:nvSpPr>
        <p:spPr bwMode="auto">
          <a:xfrm flipH="0" flipV="0">
            <a:off x="1250224" y="3077344"/>
            <a:ext cx="6425596" cy="230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0B4D8"/>
                </a:solidFill>
              </a:rPr>
              <a:t>Speedup vs Sequential</a:t>
            </a:r>
            <a:endParaRPr lang="en-US" sz="1200"/>
          </a:p>
        </p:txBody>
      </p:sp>
      <p:graphicFrame>
        <p:nvGraphicFramePr>
          <p:cNvPr id="336471199" name="Table 2"/>
          <p:cNvGraphicFramePr>
            <a:graphicFrameLocks xmlns:a="http://schemas.openxmlformats.org/drawingml/2006/main" noGrp="1"/>
          </p:cNvGraphicFramePr>
          <p:nvPr/>
        </p:nvGraphicFramePr>
        <p:xfrm rot="0">
          <a:off x="1250224" y="3443104"/>
          <a:ext cx="2744048" cy="259789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06399"/>
                <a:gridCol w="1606399"/>
                <a:gridCol w="1606399"/>
                <a:gridCol w="1606399"/>
              </a:tblGrid>
              <a:tr h="25979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0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050" b="1">
                          <a:solidFill>
                            <a:srgbClr val="0D1B2A"/>
                          </a:solidFill>
                        </a:rPr>
                        <a:t>sklearn ×</a:t>
                      </a:r>
                      <a:endParaRPr lang="en-US" sz="10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D166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</a:rPr>
                        <a:t>HIP ×</a:t>
                      </a:r>
                      <a:endParaRPr lang="en-US" sz="10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</a:rPr>
                        <a:t>MPI ×</a:t>
                      </a:r>
                      <a:endParaRPr lang="en-US" sz="105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4A26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8459673" name="Table 3"/>
          <p:cNvGraphicFramePr>
            <a:graphicFrameLocks xmlns:a="http://schemas.openxmlformats.org/drawingml/2006/main" noGrp="1"/>
          </p:cNvGraphicFramePr>
          <p:nvPr/>
        </p:nvGraphicFramePr>
        <p:xfrm rot="0">
          <a:off x="1250224" y="3790576"/>
          <a:ext cx="2744048" cy="1295399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06399"/>
                <a:gridCol w="1606399"/>
                <a:gridCol w="1606399"/>
                <a:gridCol w="1606399"/>
              </a:tblGrid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DS1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5800"/>
                          </a:solidFill>
                        </a:rPr>
                        <a:t>12.5×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0606B"/>
                          </a:solidFill>
                        </a:rPr>
                        <a:t>2.3×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0F7FA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3800"/>
                          </a:solidFill>
                        </a:rPr>
                        <a:t>3.3×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3E0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DS2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5800"/>
                          </a:solidFill>
                        </a:rPr>
                        <a:t>23.0×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5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0606B"/>
                          </a:solidFill>
                        </a:rPr>
                        <a:t>2.6×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0FFFE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3800"/>
                          </a:solidFill>
                        </a:rPr>
                        <a:t>4.2×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AF5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DS3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5800"/>
                          </a:solidFill>
                        </a:rPr>
                        <a:t>26.2×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0606B"/>
                          </a:solidFill>
                        </a:rPr>
                        <a:t>4.4×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0F7FA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3800"/>
                          </a:solidFill>
                        </a:rPr>
                        <a:t>3.9×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3E0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DS4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5800"/>
                          </a:solidFill>
                        </a:rPr>
                        <a:t>14.0×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FF5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0606B"/>
                          </a:solidFill>
                        </a:rPr>
                        <a:t>3.9×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0FFFE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3800"/>
                          </a:solidFill>
                        </a:rPr>
                        <a:t>1.9×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AF5"/>
                    </a:solidFill>
                  </a:tcPr>
                </a:tc>
              </a:tr>
              <a:tr h="25471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</a:rPr>
                        <a:t>DS5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5800"/>
                          </a:solidFill>
                        </a:rPr>
                        <a:t>19.7×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0606B"/>
                          </a:solidFill>
                        </a:rPr>
                        <a:t>4.3×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E0F7FA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100" b="1">
                          <a:solidFill>
                            <a:srgbClr val="7A3800"/>
                          </a:solidFill>
                        </a:rPr>
                        <a:t>3.9×</a:t>
                      </a:r>
                      <a:endParaRPr lang="en-US" sz="1100"/>
                    </a:p>
                  </a:txBody>
                  <a:tcPr marL="91440" marR="91440" marT="45720" marB="45720" anchor="ctr">
                    <a:lnL w="6350" algn="ctr">
                      <a:solidFill>
                        <a:srgbClr val="CCCCCC"/>
                      </a:solidFill>
                    </a:lnL>
                    <a:lnR w="6350" algn="ctr">
                      <a:solidFill>
                        <a:srgbClr val="CCCCCC"/>
                      </a:solidFill>
                    </a:lnR>
                    <a:lnT w="6350" algn="ctr">
                      <a:solidFill>
                        <a:srgbClr val="CCCCCC"/>
                      </a:solidFill>
                    </a:lnT>
                    <a:lnB w="6350" algn="ctr">
                      <a:solidFill>
                        <a:srgbClr val="CCCCCC"/>
                      </a:solidFill>
                    </a:lnB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088897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03099723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</a:rPr>
              <a:t>Execution Time Comparison (ms) — Log Scale</a:t>
            </a:r>
            <a:endParaRPr lang="en-US" sz="2200"/>
          </a:p>
        </p:txBody>
      </p:sp>
      <p:graphicFrame>
        <p:nvGraphicFramePr>
          <p:cNvPr id="857311477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274320" y="960120"/>
          <a:ext cx="859536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747584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57692757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FFFFF"/>
                </a:solidFill>
              </a:rPr>
              <a:t>Speedup vs Sequential Baseline</a:t>
            </a:r>
            <a:endParaRPr lang="en-US" sz="2400"/>
          </a:p>
        </p:txBody>
      </p:sp>
      <p:graphicFrame>
        <p:nvGraphicFramePr>
          <p:cNvPr id="93165020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274320" y="1005840"/>
          <a:ext cx="85953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44667580" name="Shape 2"/>
          <p:cNvSpPr/>
          <p:nvPr/>
        </p:nvSpPr>
        <p:spPr bwMode="auto">
          <a:xfrm>
            <a:off x="274320" y="4617720"/>
            <a:ext cx="8595360" cy="402336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70925156" name="Text 3"/>
          <p:cNvSpPr/>
          <p:nvPr/>
        </p:nvSpPr>
        <p:spPr bwMode="auto">
          <a:xfrm>
            <a:off x="274320" y="4617720"/>
            <a:ext cx="859536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0D1B2A"/>
                </a:solidFill>
              </a:rPr>
              <a:t>Key insight: </a:t>
            </a:r>
            <a:r>
              <a:rPr lang="en-US" sz="1000">
                <a:solidFill>
                  <a:srgbClr val="0D1B2A"/>
                </a:solidFill>
              </a:rPr>
              <a:t>sklearn dominates throughout. HIP scales well at DS4/DS5. MPI degrades on large K (128K) due to Allreduce communication overhead.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805340" name="Shape 0"/>
          <p:cNvSpPr/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13385034" name="Text 1"/>
          <p:cNvSpPr/>
          <p:nvPr/>
        </p:nvSpPr>
        <p:spPr bwMode="auto"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0D1B2A"/>
                </a:solidFill>
              </a:rPr>
              <a:t>Analysis &amp; Conclusions</a:t>
            </a:r>
            <a:endParaRPr lang="en-US" sz="2600"/>
          </a:p>
        </p:txBody>
      </p:sp>
      <p:sp>
        <p:nvSpPr>
          <p:cNvPr id="1389364584" name="Shape 2"/>
          <p:cNvSpPr/>
          <p:nvPr/>
        </p:nvSpPr>
        <p:spPr bwMode="auto">
          <a:xfrm>
            <a:off x="228600" y="105156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C653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25000"/>
              </a:srgbClr>
            </a:outerShdw>
          </a:effectLst>
        </p:spPr>
      </p:sp>
      <p:pic>
        <p:nvPicPr>
          <p:cNvPr id="87683508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5760" y="1188720"/>
            <a:ext cx="502920" cy="502920"/>
          </a:xfrm>
          <a:prstGeom prst="rect">
            <a:avLst/>
          </a:prstGeom>
        </p:spPr>
      </p:pic>
      <p:sp>
        <p:nvSpPr>
          <p:cNvPr id="360303788" name="Text 3"/>
          <p:cNvSpPr/>
          <p:nvPr/>
        </p:nvSpPr>
        <p:spPr bwMode="auto">
          <a:xfrm>
            <a:off x="960120" y="11612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2DC653"/>
                </a:solidFill>
              </a:rPr>
              <a:t>Scikit-Learn wins overall</a:t>
            </a:r>
            <a:endParaRPr lang="en-US" sz="1300"/>
          </a:p>
        </p:txBody>
      </p:sp>
      <p:sp>
        <p:nvSpPr>
          <p:cNvPr id="1966399338" name="Text 4"/>
          <p:cNvSpPr/>
          <p:nvPr/>
        </p:nvSpPr>
        <p:spPr bwMode="auto">
          <a:xfrm>
            <a:off x="365760" y="173736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E8F4F8"/>
                </a:solidFill>
              </a:rPr>
              <a:t>BLAS-powered vectorization + multi-core SIMD eliminates the O(N·K·D) inner loop bottleneck. Up to 20× faster than sequential. The kernel trick reduces the distance computation to a single matrix multiply.</a:t>
            </a:r>
            <a:endParaRPr lang="en-US" sz="950"/>
          </a:p>
        </p:txBody>
      </p:sp>
      <p:sp>
        <p:nvSpPr>
          <p:cNvPr id="683317171" name="Shape 5"/>
          <p:cNvSpPr/>
          <p:nvPr/>
        </p:nvSpPr>
        <p:spPr bwMode="auto">
          <a:xfrm>
            <a:off x="228600" y="306324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25000"/>
              </a:srgbClr>
            </a:outerShdw>
          </a:effectLst>
        </p:spPr>
      </p:sp>
      <p:pic>
        <p:nvPicPr>
          <p:cNvPr id="103052548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65760" y="3200400"/>
            <a:ext cx="502920" cy="502920"/>
          </a:xfrm>
          <a:prstGeom prst="rect">
            <a:avLst/>
          </a:prstGeom>
        </p:spPr>
      </p:pic>
      <p:sp>
        <p:nvSpPr>
          <p:cNvPr id="1302382221" name="Text 6"/>
          <p:cNvSpPr/>
          <p:nvPr/>
        </p:nvSpPr>
        <p:spPr bwMode="auto">
          <a:xfrm>
            <a:off x="960120" y="31729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0B4D8"/>
                </a:solidFill>
              </a:rPr>
              <a:t>HIP scales on large datasets</a:t>
            </a:r>
            <a:endParaRPr lang="en-US" sz="1300"/>
          </a:p>
        </p:txBody>
      </p:sp>
      <p:sp>
        <p:nvSpPr>
          <p:cNvPr id="226895259" name="Text 7"/>
          <p:cNvSpPr/>
          <p:nvPr/>
        </p:nvSpPr>
        <p:spPr bwMode="auto">
          <a:xfrm>
            <a:off x="365760" y="374904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E8F4F8"/>
                </a:solidFill>
              </a:rPr>
              <a:t>GPU shines at DS4 (3.5M pts, 32D, 64K) with ~4× speedup. Shared iGPU memory limits bandwidth vs discrete GPU. Works best when N is large enough to saturate all 768 shader processors.</a:t>
            </a:r>
            <a:endParaRPr lang="en-US" sz="950"/>
          </a:p>
        </p:txBody>
      </p:sp>
      <p:sp>
        <p:nvSpPr>
          <p:cNvPr id="913763951" name="Shape 8"/>
          <p:cNvSpPr/>
          <p:nvPr/>
        </p:nvSpPr>
        <p:spPr bwMode="auto">
          <a:xfrm>
            <a:off x="4709160" y="105156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FFD166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25000"/>
              </a:srgbClr>
            </a:outerShdw>
          </a:effectLst>
        </p:spPr>
      </p:sp>
      <p:pic>
        <p:nvPicPr>
          <p:cNvPr id="557328418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46320" y="1188720"/>
            <a:ext cx="502920" cy="502920"/>
          </a:xfrm>
          <a:prstGeom prst="rect">
            <a:avLst/>
          </a:prstGeom>
        </p:spPr>
      </p:pic>
      <p:sp>
        <p:nvSpPr>
          <p:cNvPr id="308432440" name="Text 9"/>
          <p:cNvSpPr/>
          <p:nvPr/>
        </p:nvSpPr>
        <p:spPr bwMode="auto">
          <a:xfrm>
            <a:off x="5440680" y="11612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D166"/>
                </a:solidFill>
              </a:rPr>
              <a:t>MPI struggles with large K</a:t>
            </a:r>
            <a:endParaRPr lang="en-US" sz="1300"/>
          </a:p>
        </p:txBody>
      </p:sp>
      <p:sp>
        <p:nvSpPr>
          <p:cNvPr id="1561617708" name="Text 10"/>
          <p:cNvSpPr/>
          <p:nvPr/>
        </p:nvSpPr>
        <p:spPr bwMode="auto">
          <a:xfrm>
            <a:off x="4846320" y="173736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E8F4F8"/>
                </a:solidFill>
              </a:rPr>
              <a:t>With K=128K, the MPI_Allreduce payload (K×D doubles) grows huge, causing DS5 communication overhead to dominate. MPI excels only when K is small and N is very large.</a:t>
            </a:r>
            <a:endParaRPr lang="en-US" sz="950"/>
          </a:p>
        </p:txBody>
      </p:sp>
      <p:sp>
        <p:nvSpPr>
          <p:cNvPr id="1847446927" name="Shape 11"/>
          <p:cNvSpPr/>
          <p:nvPr/>
        </p:nvSpPr>
        <p:spPr bwMode="auto">
          <a:xfrm>
            <a:off x="4709160" y="306324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F4A261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25000"/>
              </a:srgbClr>
            </a:outerShdw>
          </a:effectLst>
        </p:spPr>
      </p:sp>
      <p:pic>
        <p:nvPicPr>
          <p:cNvPr id="1223936063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846320" y="3200400"/>
            <a:ext cx="502920" cy="502920"/>
          </a:xfrm>
          <a:prstGeom prst="rect">
            <a:avLst/>
          </a:prstGeom>
        </p:spPr>
      </p:pic>
      <p:sp>
        <p:nvSpPr>
          <p:cNvPr id="1137681196" name="Text 12"/>
          <p:cNvSpPr/>
          <p:nvPr/>
        </p:nvSpPr>
        <p:spPr bwMode="auto">
          <a:xfrm>
            <a:off x="5440680" y="31729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4A261"/>
                </a:solidFill>
              </a:rPr>
              <a:t>Sequential is the honest baseline</a:t>
            </a:r>
            <a:endParaRPr lang="en-US" sz="1300"/>
          </a:p>
        </p:txBody>
      </p:sp>
      <p:sp>
        <p:nvSpPr>
          <p:cNvPr id="1003807397" name="Text 13"/>
          <p:cNvSpPr/>
          <p:nvPr/>
        </p:nvSpPr>
        <p:spPr bwMode="auto">
          <a:xfrm>
            <a:off x="4846320" y="374904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E8F4F8"/>
                </a:solidFill>
              </a:rPr>
              <a:t>No external libraries, no BLAS tricks — pure Lloyd's algorithm in C++. Data-Oriented Design and avoiding sqrt() reduce the constant factor, but it cannot hide the O(N·K·D) complexity.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076967" name="Shape 0"/>
          <p:cNvSpPr/>
          <p:nvPr/>
        </p:nvSpPr>
        <p:spPr bwMode="auto"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53375915" name="Shape 1"/>
          <p:cNvSpPr/>
          <p:nvPr/>
        </p:nvSpPr>
        <p:spPr bwMode="auto"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36301719" name="Shape 2"/>
          <p:cNvSpPr/>
          <p:nvPr/>
        </p:nvSpPr>
        <p:spPr bwMode="auto">
          <a:xfrm>
            <a:off x="3200400" y="731520"/>
            <a:ext cx="2743200" cy="27432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9470826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94760" y="1325880"/>
            <a:ext cx="1554480" cy="1554480"/>
          </a:xfrm>
          <a:prstGeom prst="rect">
            <a:avLst/>
          </a:prstGeom>
        </p:spPr>
      </p:pic>
      <p:sp>
        <p:nvSpPr>
          <p:cNvPr id="1525424489" name="Text 3"/>
          <p:cNvSpPr/>
          <p:nvPr/>
        </p:nvSpPr>
        <p:spPr bwMode="auto">
          <a:xfrm>
            <a:off x="914400" y="36118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4200" b="1">
                <a:solidFill>
                  <a:srgbClr val="FFFFFF"/>
                </a:solidFill>
              </a:rPr>
              <a:t>Thank You</a:t>
            </a:r>
            <a:endParaRPr lang="en-US" sz="4200"/>
          </a:p>
        </p:txBody>
      </p:sp>
      <p:sp>
        <p:nvSpPr>
          <p:cNvPr id="1967939559" name="Text 4"/>
          <p:cNvSpPr/>
          <p:nvPr/>
        </p:nvSpPr>
        <p:spPr bwMode="auto">
          <a:xfrm>
            <a:off x="914400" y="44348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00B4D8"/>
                </a:solidFill>
              </a:rPr>
              <a:t>K-Means Clustering: Sequential · Scikit-Learn · HIP · MPI</a:t>
            </a:r>
            <a:endParaRPr lang="en-US" sz="1300"/>
          </a:p>
        </p:txBody>
      </p:sp>
      <p:sp>
        <p:nvSpPr>
          <p:cNvPr id="784824310" name="Text 5"/>
          <p:cNvSpPr/>
          <p:nvPr/>
        </p:nvSpPr>
        <p:spPr bwMode="auto">
          <a:xfrm>
            <a:off x="914400" y="4846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7FB3C8"/>
                </a:solidFill>
              </a:rPr>
              <a:t>Hardware: AMD Ryzen 7 7840HS · Radeon 780M iGPU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K-Means Clustering: Parallel Implementations</dc:title>
  <dc:subject>PptxGenJS Presentation</dc:subject>
  <dc:creator>PptxGenJS</dc:creator>
  <cp:lastModifiedBy/>
  <cp:revision>2</cp:revision>
  <dcterms:created xsi:type="dcterms:W3CDTF">2026-05-20T07:26:54Z</dcterms:created>
  <dcterms:modified xsi:type="dcterms:W3CDTF">2026-05-20T07:39:52Z</dcterms:modified>
</cp:coreProperties>
</file>