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Execution Time Comparison (ms) — Log Scale</a:t>
            </a:r>
          </a:p>
        </c:rich>
      </c:tx>
      <c:layout/>
      <c:overlay val="0"/>
    </c:title>
    <c:autoTitleDeleted val="0"/>
    <c:plotArea>
      <c:barChart>
        <c:barDir val="col"/>
        <c:grouping val="clustered"/>
        <c:ser>
          <c:idx val="0"/>
          <c:order val="0"/>
          <c:tx>
            <c:strRef>
              <c:f>Sheet1!$B$1</c:f>
              <c:strCache>
                <c:ptCount val="1"/>
                <c:pt idx="0">
                  <c:v>Seq C++</c:v>
                </c:pt>
              </c:strCache>
            </c:strRef>
          </c:tx>
          <c:spPr>
            <a:solidFill>
              <a:srgbClr val="94A3B8"/>
            </a:solidFill>
          </c:spPr>
          <c:cat>
            <c:strRef>
              <c:f>Sheet1!$A$2:$A$6</c:f>
              <c:strCache>
                <c:ptCount val="5"/>
                <c:pt idx="0">
                  <c:v>1. Very Small</c:v>
                </c:pt>
                <c:pt idx="1">
                  <c:v>2. Small</c:v>
                </c:pt>
                <c:pt idx="2">
                  <c:v>3. Medium</c:v>
                </c:pt>
                <c:pt idx="3">
                  <c:v>4. Large</c:v>
                </c:pt>
                <c:pt idx="4">
                  <c:v>5. Extreme</c:v>
                </c:pt>
              </c:strCache>
            </c:strRef>
          </c:cat>
          <c:val>
            <c:numRef>
              <c:f>Sheet1!$B$2:$B$6</c:f>
              <c:numCache>
                <c:formatCode>General</c:formatCode>
                <c:ptCount val="5"/>
                <c:pt idx="0">
                  <c:v>4965</c:v>
                </c:pt>
                <c:pt idx="1">
                  <c:v>39605</c:v>
                </c:pt>
                <c:pt idx="2">
                  <c:v>212183</c:v>
                </c:pt>
                <c:pt idx="3">
                  <c:v>306346</c:v>
                </c:pt>
                <c:pt idx="4">
                  <c:v>613309</c:v>
                </c:pt>
              </c:numCache>
            </c:numRef>
          </c:val>
        </c:ser>
        <c:ser>
          <c:idx val="1"/>
          <c:order val="1"/>
          <c:tx>
            <c:strRef>
              <c:f>Sheet1!$C$1</c:f>
              <c:strCache>
                <c:ptCount val="1"/>
                <c:pt idx="0">
                  <c:v>sklearn</c:v>
                </c:pt>
              </c:strCache>
            </c:strRef>
          </c:tx>
          <c:spPr>
            <a:solidFill>
              <a:srgbClr val="06B6D4"/>
            </a:solidFill>
          </c:spPr>
          <c:cat>
            <c:strRef>
              <c:f>Sheet1!$A$2:$A$6</c:f>
              <c:strCache>
                <c:ptCount val="5"/>
                <c:pt idx="0">
                  <c:v>1. Very Small</c:v>
                </c:pt>
                <c:pt idx="1">
                  <c:v>2. Small</c:v>
                </c:pt>
                <c:pt idx="2">
                  <c:v>3. Medium</c:v>
                </c:pt>
                <c:pt idx="3">
                  <c:v>4. Large</c:v>
                </c:pt>
                <c:pt idx="4">
                  <c:v>5. Extreme</c:v>
                </c:pt>
              </c:strCache>
            </c:strRef>
          </c:cat>
          <c:val>
            <c:numRef>
              <c:f>Sheet1!$C$2:$C$6</c:f>
              <c:numCache>
                <c:formatCode>General</c:formatCode>
                <c:ptCount val="5"/>
                <c:pt idx="0">
                  <c:v>396</c:v>
                </c:pt>
                <c:pt idx="1">
                  <c:v>1722</c:v>
                </c:pt>
                <c:pt idx="2">
                  <c:v>8109</c:v>
                </c:pt>
                <c:pt idx="3">
                  <c:v>21833</c:v>
                </c:pt>
                <c:pt idx="4">
                  <c:v>31115</c:v>
                </c:pt>
              </c:numCache>
            </c:numRef>
          </c:val>
        </c:ser>
        <c:ser>
          <c:idx val="2"/>
          <c:order val="2"/>
          <c:tx>
            <c:strRef>
              <c:f>Sheet1!$D$1</c:f>
              <c:strCache>
                <c:ptCount val="1"/>
                <c:pt idx="0">
                  <c:v>HIP/GPU</c:v>
                </c:pt>
              </c:strCache>
            </c:strRef>
          </c:tx>
          <c:spPr>
            <a:solidFill>
              <a:srgbClr val="EF4444"/>
            </a:solidFill>
          </c:spPr>
          <c:cat>
            <c:strRef>
              <c:f>Sheet1!$A$2:$A$6</c:f>
              <c:strCache>
                <c:ptCount val="5"/>
                <c:pt idx="0">
                  <c:v>1. Very Small</c:v>
                </c:pt>
                <c:pt idx="1">
                  <c:v>2. Small</c:v>
                </c:pt>
                <c:pt idx="2">
                  <c:v>3. Medium</c:v>
                </c:pt>
                <c:pt idx="3">
                  <c:v>4. Large</c:v>
                </c:pt>
                <c:pt idx="4">
                  <c:v>5. Extreme</c:v>
                </c:pt>
              </c:strCache>
            </c:strRef>
          </c:cat>
          <c:val>
            <c:numRef>
              <c:f>Sheet1!$D$2:$D$6</c:f>
              <c:numCache>
                <c:formatCode>General</c:formatCode>
                <c:ptCount val="5"/>
                <c:pt idx="0">
                  <c:v>2122</c:v>
                </c:pt>
                <c:pt idx="1">
                  <c:v>15031</c:v>
                </c:pt>
                <c:pt idx="2">
                  <c:v>48300</c:v>
                </c:pt>
                <c:pt idx="3">
                  <c:v>77633</c:v>
                </c:pt>
                <c:pt idx="4">
                  <c:v>142613</c:v>
                </c:pt>
              </c:numCache>
            </c:numRef>
          </c:val>
        </c:ser>
        <c:ser>
          <c:idx val="3"/>
          <c:order val="3"/>
          <c:tx>
            <c:strRef>
              <c:f>Sheet1!$E$1</c:f>
              <c:strCache>
                <c:ptCount val="1"/>
                <c:pt idx="0">
                  <c:v>MPI (4P)</c:v>
                </c:pt>
              </c:strCache>
            </c:strRef>
          </c:tx>
          <c:spPr>
            <a:solidFill>
              <a:srgbClr val="22C55E"/>
            </a:solidFill>
          </c:spPr>
          <c:cat>
            <c:strRef>
              <c:f>Sheet1!$A$2:$A$6</c:f>
              <c:strCache>
                <c:ptCount val="5"/>
                <c:pt idx="0">
                  <c:v>1. Very Small</c:v>
                </c:pt>
                <c:pt idx="1">
                  <c:v>2. Small</c:v>
                </c:pt>
                <c:pt idx="2">
                  <c:v>3. Medium</c:v>
                </c:pt>
                <c:pt idx="3">
                  <c:v>4. Large</c:v>
                </c:pt>
                <c:pt idx="4">
                  <c:v>5. Extreme</c:v>
                </c:pt>
              </c:strCache>
            </c:strRef>
          </c:cat>
          <c:val>
            <c:numRef>
              <c:f>Sheet1!$E$2:$E$6</c:f>
              <c:numCache>
                <c:formatCode>General</c:formatCode>
                <c:ptCount val="5"/>
                <c:pt idx="0">
                  <c:v>1484</c:v>
                </c:pt>
                <c:pt idx="1">
                  <c:v>9502</c:v>
                </c:pt>
                <c:pt idx="2">
                  <c:v>53818</c:v>
                </c:pt>
                <c:pt idx="3">
                  <c:v>160434</c:v>
                </c:pt>
                <c:pt idx="4">
                  <c:v>156254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logBase val="10"/>
        </c:scaling>
        <c:delete val="0"/>
        <c:axPos val="l"/>
        <c:majorGridlines>
          <c:spPr>
            <a:ln>
              <a:solidFill>
                <a:srgbClr val="E2E8F0"/>
              </a:solidFill>
            </a:ln>
          </c:spPr>
        </c:majorGridlines>
        <c:title>
          <c:tx>
            <c:rich>
              <a:bodyPr/>
              <a:lstStyle/>
              <a:p>
                <a:r>
                  <a:t>Execution Time (ms)</a:t>
                </a:r>
              </a:p>
            </c:rich>
          </c:tx>
          <c:layout/>
          <c:overlay val="0"/>
        </c:title>
        <c:majorTickMark val="out"/>
        <c:minorTickMark val="none"/>
        <c:tickLblPos val="nextTo"/>
        <c:crossAx val="-2068027336"/>
        <c:crosses val="autoZero"/>
      </c:valAx>
    </c:plotArea>
    <c:legend>
      <c:legendPos val="b"/>
      <c:overlay val="0"/>
      <c:txPr>
        <a:bodyPr/>
        <a:lstStyle/>
        <a:p>
          <a:pPr>
            <a:defRPr sz="1200">
              <a:solidFill>
                <a:srgbClr val="0F172A"/>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Speedup vs Sequential Baseline</a:t>
            </a:r>
          </a:p>
        </c:rich>
      </c:tx>
      <c:layout/>
      <c:overlay val="0"/>
    </c:title>
    <c:autoTitleDeleted val="0"/>
    <c:plotArea>
      <c:lineChart>
        <c:grouping val="standard"/>
        <c:varyColors val="0"/>
        <c:ser>
          <c:idx val="0"/>
          <c:order val="0"/>
          <c:tx>
            <c:strRef>
              <c:f>Sheet1!$B$1</c:f>
              <c:strCache>
                <c:ptCount val="1"/>
                <c:pt idx="0">
                  <c:v>sklearn</c:v>
                </c:pt>
              </c:strCache>
            </c:strRef>
          </c:tx>
          <c:spPr>
            <a:ln w="63500">
              <a:solidFill>
                <a:srgbClr val="06B6D4"/>
              </a:solidFill>
            </a:ln>
          </c:spPr>
          <c:cat>
            <c:strRef>
              <c:f>Sheet1!$A$2:$A$6</c:f>
              <c:strCache>
                <c:ptCount val="5"/>
                <c:pt idx="0">
                  <c:v>1. Very Small</c:v>
                </c:pt>
                <c:pt idx="1">
                  <c:v>2. Small</c:v>
                </c:pt>
                <c:pt idx="2">
                  <c:v>3. Medium</c:v>
                </c:pt>
                <c:pt idx="3">
                  <c:v>4. Large</c:v>
                </c:pt>
                <c:pt idx="4">
                  <c:v>5. Extreme</c:v>
                </c:pt>
              </c:strCache>
            </c:strRef>
          </c:cat>
          <c:val>
            <c:numRef>
              <c:f>Sheet1!$B$2:$B$6</c:f>
              <c:numCache>
                <c:formatCode>General</c:formatCode>
                <c:ptCount val="5"/>
                <c:pt idx="0">
                  <c:v>12.5</c:v>
                </c:pt>
                <c:pt idx="1">
                  <c:v>23.0</c:v>
                </c:pt>
                <c:pt idx="2">
                  <c:v>26.2</c:v>
                </c:pt>
                <c:pt idx="3">
                  <c:v>14.0</c:v>
                </c:pt>
                <c:pt idx="4">
                  <c:v>19.7</c:v>
                </c:pt>
              </c:numCache>
            </c:numRef>
          </c:val>
          <c:smooth val="0"/>
        </c:ser>
        <c:ser>
          <c:idx val="1"/>
          <c:order val="1"/>
          <c:tx>
            <c:strRef>
              <c:f>Sheet1!$C$1</c:f>
              <c:strCache>
                <c:ptCount val="1"/>
                <c:pt idx="0">
                  <c:v>HIP/GPU</c:v>
                </c:pt>
              </c:strCache>
            </c:strRef>
          </c:tx>
          <c:spPr>
            <a:ln w="63500">
              <a:solidFill>
                <a:srgbClr val="EF4444"/>
              </a:solidFill>
            </a:ln>
          </c:spPr>
          <c:cat>
            <c:strRef>
              <c:f>Sheet1!$A$2:$A$6</c:f>
              <c:strCache>
                <c:ptCount val="5"/>
                <c:pt idx="0">
                  <c:v>1. Very Small</c:v>
                </c:pt>
                <c:pt idx="1">
                  <c:v>2. Small</c:v>
                </c:pt>
                <c:pt idx="2">
                  <c:v>3. Medium</c:v>
                </c:pt>
                <c:pt idx="3">
                  <c:v>4. Large</c:v>
                </c:pt>
                <c:pt idx="4">
                  <c:v>5. Extreme</c:v>
                </c:pt>
              </c:strCache>
            </c:strRef>
          </c:cat>
          <c:val>
            <c:numRef>
              <c:f>Sheet1!$C$2:$C$6</c:f>
              <c:numCache>
                <c:formatCode>General</c:formatCode>
                <c:ptCount val="5"/>
                <c:pt idx="0">
                  <c:v>2.3</c:v>
                </c:pt>
                <c:pt idx="1">
                  <c:v>2.6</c:v>
                </c:pt>
                <c:pt idx="2">
                  <c:v>4.4</c:v>
                </c:pt>
                <c:pt idx="3">
                  <c:v>3.9</c:v>
                </c:pt>
                <c:pt idx="4">
                  <c:v>4.3</c:v>
                </c:pt>
              </c:numCache>
            </c:numRef>
          </c:val>
          <c:smooth val="0"/>
        </c:ser>
        <c:ser>
          <c:idx val="2"/>
          <c:order val="2"/>
          <c:tx>
            <c:strRef>
              <c:f>Sheet1!$D$1</c:f>
              <c:strCache>
                <c:ptCount val="1"/>
                <c:pt idx="0">
                  <c:v>MPI (4P)</c:v>
                </c:pt>
              </c:strCache>
            </c:strRef>
          </c:tx>
          <c:spPr>
            <a:ln w="63500">
              <a:solidFill>
                <a:srgbClr val="22C55E"/>
              </a:solidFill>
            </a:ln>
          </c:spPr>
          <c:cat>
            <c:strRef>
              <c:f>Sheet1!$A$2:$A$6</c:f>
              <c:strCache>
                <c:ptCount val="5"/>
                <c:pt idx="0">
                  <c:v>1. Very Small</c:v>
                </c:pt>
                <c:pt idx="1">
                  <c:v>2. Small</c:v>
                </c:pt>
                <c:pt idx="2">
                  <c:v>3. Medium</c:v>
                </c:pt>
                <c:pt idx="3">
                  <c:v>4. Large</c:v>
                </c:pt>
                <c:pt idx="4">
                  <c:v>5. Extreme</c:v>
                </c:pt>
              </c:strCache>
            </c:strRef>
          </c:cat>
          <c:val>
            <c:numRef>
              <c:f>Sheet1!$D$2:$D$6</c:f>
              <c:numCache>
                <c:formatCode>General</c:formatCode>
                <c:ptCount val="5"/>
                <c:pt idx="0">
                  <c:v>3.3</c:v>
                </c:pt>
                <c:pt idx="1">
                  <c:v>4.2</c:v>
                </c:pt>
                <c:pt idx="2">
                  <c:v>3.9</c:v>
                </c:pt>
                <c:pt idx="3">
                  <c:v>1.9</c:v>
                </c:pt>
                <c:pt idx="4">
                  <c:v>3.9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spPr>
            <a:ln>
              <a:solidFill>
                <a:srgbClr val="E2E8F0"/>
              </a:solidFill>
            </a:ln>
          </c:spPr>
        </c:majorGridlines>
        <c:title>
          <c:tx>
            <c:rich>
              <a:bodyPr/>
              <a:lstStyle/>
              <a:p>
                <a:r>
                  <a:t>Speedup Factor (x)</a:t>
                </a:r>
              </a:p>
            </c:rich>
          </c:tx>
          <c:layout/>
          <c:overlay val="0"/>
        </c:title>
        <c:majorTickMark val="out"/>
        <c:minorTickMark val="none"/>
        <c:tickLblPos val="nextTo"/>
        <c:crossAx val="2118791784"/>
        <c:crosses val="autoZero"/>
      </c:valAx>
    </c:plotArea>
    <c:legend>
      <c:legendPos val="b"/>
      <c:layout/>
      <c:overlay val="0"/>
      <c:txPr>
        <a:bodyPr/>
        <a:lstStyle/>
        <a:p>
          <a:pPr>
            <a:defRPr sz="1200">
              <a:solidFill>
                <a:srgbClr val="0F172A"/>
              </a:solidFill>
              <a:latin typeface="Calibri"/>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Execution Time Comparison (ms) — Log Scale</a:t>
            </a:r>
          </a:p>
        </c:rich>
      </c:tx>
      <c:layout/>
      <c:overlay val="0"/>
    </c:title>
    <c:autoTitleDeleted val="0"/>
    <c:plotArea>
      <c:barChart>
        <c:barDir val="col"/>
        <c:grouping val="clustered"/>
        <c:ser>
          <c:idx val="0"/>
          <c:order val="0"/>
          <c:tx>
            <c:strRef>
              <c:f>Sheet1!$B$1</c:f>
              <c:strCache>
                <c:ptCount val="1"/>
                <c:pt idx="0">
                  <c:v>Seq C++</c:v>
                </c:pt>
              </c:strCache>
            </c:strRef>
          </c:tx>
          <c:spPr>
            <a:solidFill>
              <a:srgbClr val="94A3B8"/>
            </a:solidFill>
          </c:spPr>
          <c:cat>
            <c:strRef>
              <c:f>Sheet1!$A$2:$A$6</c:f>
              <c:strCache>
                <c:ptCount val="5"/>
                <c:pt idx="0">
                  <c:v>Mall</c:v>
                </c:pt>
                <c:pt idx="1">
                  <c:v>Cov7</c:v>
                </c:pt>
                <c:pt idx="2">
                  <c:v>Cov50</c:v>
                </c:pt>
                <c:pt idx="3">
                  <c:v>KDD10%</c:v>
                </c:pt>
                <c:pt idx="4">
                  <c:v>KDD Full</c:v>
                </c:pt>
              </c:strCache>
            </c:strRef>
          </c:cat>
          <c:val>
            <c:numRef>
              <c:f>Sheet1!$B$2:$B$6</c:f>
              <c:numCache>
                <c:formatCode>General</c:formatCode>
                <c:ptCount val="5"/>
                <c:pt idx="0">
                  <c:v>0.04</c:v>
                </c:pt>
                <c:pt idx="1">
                  <c:v>3738.36</c:v>
                </c:pt>
                <c:pt idx="2">
                  <c:v>81518.0</c:v>
                </c:pt>
                <c:pt idx="3">
                  <c:v>8182.5</c:v>
                </c:pt>
                <c:pt idx="4">
                  <c:v>201664.0</c:v>
                </c:pt>
              </c:numCache>
            </c:numRef>
          </c:val>
        </c:ser>
        <c:ser>
          <c:idx val="1"/>
          <c:order val="1"/>
          <c:tx>
            <c:strRef>
              <c:f>Sheet1!$C$1</c:f>
              <c:strCache>
                <c:ptCount val="1"/>
                <c:pt idx="0">
                  <c:v>sklearn</c:v>
                </c:pt>
              </c:strCache>
            </c:strRef>
          </c:tx>
          <c:spPr>
            <a:solidFill>
              <a:srgbClr val="06B6D4"/>
            </a:solidFill>
          </c:spPr>
          <c:cat>
            <c:strRef>
              <c:f>Sheet1!$A$2:$A$6</c:f>
              <c:strCache>
                <c:ptCount val="5"/>
                <c:pt idx="0">
                  <c:v>Mall</c:v>
                </c:pt>
                <c:pt idx="1">
                  <c:v>Cov7</c:v>
                </c:pt>
                <c:pt idx="2">
                  <c:v>Cov50</c:v>
                </c:pt>
                <c:pt idx="3">
                  <c:v>KDD10%</c:v>
                </c:pt>
                <c:pt idx="4">
                  <c:v>KDD Full</c:v>
                </c:pt>
              </c:strCache>
            </c:strRef>
          </c:cat>
          <c:val>
            <c:numRef>
              <c:f>Sheet1!$C$2:$C$6</c:f>
              <c:numCache>
                <c:formatCode>General</c:formatCode>
                <c:ptCount val="5"/>
                <c:pt idx="0">
                  <c:v>21.86</c:v>
                </c:pt>
                <c:pt idx="1">
                  <c:v>394.77</c:v>
                </c:pt>
                <c:pt idx="2">
                  <c:v>927.96</c:v>
                </c:pt>
                <c:pt idx="3">
                  <c:v>417.77</c:v>
                </c:pt>
                <c:pt idx="4">
                  <c:v>5307.35</c:v>
                </c:pt>
              </c:numCache>
            </c:numRef>
          </c:val>
        </c:ser>
        <c:ser>
          <c:idx val="2"/>
          <c:order val="2"/>
          <c:tx>
            <c:strRef>
              <c:f>Sheet1!$D$1</c:f>
              <c:strCache>
                <c:ptCount val="1"/>
                <c:pt idx="0">
                  <c:v>HIP/GPU</c:v>
                </c:pt>
              </c:strCache>
            </c:strRef>
          </c:tx>
          <c:spPr>
            <a:solidFill>
              <a:srgbClr val="EF4444"/>
            </a:solidFill>
          </c:spPr>
          <c:cat>
            <c:strRef>
              <c:f>Sheet1!$A$2:$A$6</c:f>
              <c:strCache>
                <c:ptCount val="5"/>
                <c:pt idx="0">
                  <c:v>Mall</c:v>
                </c:pt>
                <c:pt idx="1">
                  <c:v>Cov7</c:v>
                </c:pt>
                <c:pt idx="2">
                  <c:v>Cov50</c:v>
                </c:pt>
                <c:pt idx="3">
                  <c:v>KDD10%</c:v>
                </c:pt>
                <c:pt idx="4">
                  <c:v>KDD Full</c:v>
                </c:pt>
              </c:strCache>
            </c:strRef>
          </c:cat>
          <c:val>
            <c:numRef>
              <c:f>Sheet1!$D$2:$D$6</c:f>
              <c:numCache>
                <c:formatCode>General</c:formatCode>
                <c:ptCount val="5"/>
                <c:pt idx="0">
                  <c:v>1.77</c:v>
                </c:pt>
                <c:pt idx="1">
                  <c:v>1922.17</c:v>
                </c:pt>
                <c:pt idx="2">
                  <c:v>28308.0</c:v>
                </c:pt>
                <c:pt idx="3">
                  <c:v>6071.91</c:v>
                </c:pt>
                <c:pt idx="4">
                  <c:v>45089.7</c:v>
                </c:pt>
              </c:numCache>
            </c:numRef>
          </c:val>
        </c:ser>
        <c:ser>
          <c:idx val="3"/>
          <c:order val="3"/>
          <c:tx>
            <c:strRef>
              <c:f>Sheet1!$E$1</c:f>
              <c:strCache>
                <c:ptCount val="1"/>
                <c:pt idx="0">
                  <c:v>MPI (4P)</c:v>
                </c:pt>
              </c:strCache>
            </c:strRef>
          </c:tx>
          <c:spPr>
            <a:solidFill>
              <a:srgbClr val="22C55E"/>
            </a:solidFill>
          </c:spPr>
          <c:cat>
            <c:strRef>
              <c:f>Sheet1!$A$2:$A$6</c:f>
              <c:strCache>
                <c:ptCount val="5"/>
                <c:pt idx="0">
                  <c:v>Mall</c:v>
                </c:pt>
                <c:pt idx="1">
                  <c:v>Cov7</c:v>
                </c:pt>
                <c:pt idx="2">
                  <c:v>Cov50</c:v>
                </c:pt>
                <c:pt idx="3">
                  <c:v>KDD10%</c:v>
                </c:pt>
                <c:pt idx="4">
                  <c:v>KDD Full</c:v>
                </c:pt>
              </c:strCache>
            </c:strRef>
          </c:cat>
          <c:val>
            <c:numRef>
              <c:f>Sheet1!$E$2:$E$6</c:f>
              <c:numCache>
                <c:formatCode>General</c:formatCode>
                <c:ptCount val="5"/>
                <c:pt idx="0">
                  <c:v>0.14</c:v>
                </c:pt>
                <c:pt idx="1">
                  <c:v>1251.34</c:v>
                </c:pt>
                <c:pt idx="2">
                  <c:v>20905.3</c:v>
                </c:pt>
                <c:pt idx="3">
                  <c:v>3674.98</c:v>
                </c:pt>
                <c:pt idx="4">
                  <c:v>37818.6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logBase val="10"/>
        </c:scaling>
        <c:delete val="0"/>
        <c:axPos val="l"/>
        <c:majorGridlines>
          <c:spPr>
            <a:ln>
              <a:solidFill>
                <a:srgbClr val="E2E8F0"/>
              </a:solidFill>
            </a:ln>
          </c:spPr>
        </c:majorGridlines>
        <c:title>
          <c:tx>
            <c:rich>
              <a:bodyPr/>
              <a:lstStyle/>
              <a:p>
                <a:r>
                  <a:t>Execution Time (ms)</a:t>
                </a:r>
              </a:p>
            </c:rich>
          </c:tx>
          <c:layout/>
          <c:overlay val="0"/>
        </c:title>
        <c:majorTickMark val="out"/>
        <c:minorTickMark val="none"/>
        <c:tickLblPos val="nextTo"/>
        <c:crossAx val="-2068027336"/>
        <c:crosses val="autoZero"/>
      </c:valAx>
    </c:plotArea>
    <c:legend>
      <c:legendPos val="b"/>
      <c:overlay val="0"/>
      <c:txPr>
        <a:bodyPr/>
        <a:lstStyle/>
        <a:p>
          <a:pPr>
            <a:defRPr sz="1200">
              <a:solidFill>
                <a:srgbClr val="0F172A"/>
              </a:solidFill>
              <a:latin typeface="Calibri"/>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Speedup vs Baseline (Real Data)</a:t>
            </a:r>
          </a:p>
        </c:rich>
      </c:tx>
      <c:layout/>
      <c:overlay val="0"/>
    </c:title>
    <c:autoTitleDeleted val="0"/>
    <c:plotArea>
      <c:barChart>
        <c:barDir val="col"/>
        <c:grouping val="clustered"/>
        <c:ser>
          <c:idx val="0"/>
          <c:order val="0"/>
          <c:tx>
            <c:strRef>
              <c:f>Sheet1!$B$1</c:f>
              <c:strCache>
                <c:ptCount val="1"/>
                <c:pt idx="0">
                  <c:v>sklearn</c:v>
                </c:pt>
              </c:strCache>
            </c:strRef>
          </c:tx>
          <c:spPr>
            <a:solidFill>
              <a:srgbClr val="06B6D4"/>
            </a:solidFill>
          </c:spPr>
          <c:cat>
            <c:strRef>
              <c:f>Sheet1!$A$2:$A$6</c:f>
              <c:strCache>
                <c:ptCount val="5"/>
                <c:pt idx="0">
                  <c:v>Mall</c:v>
                </c:pt>
                <c:pt idx="1">
                  <c:v>Cov7</c:v>
                </c:pt>
                <c:pt idx="2">
                  <c:v>Cov50</c:v>
                </c:pt>
                <c:pt idx="3">
                  <c:v>KDD10%</c:v>
                </c:pt>
                <c:pt idx="4">
                  <c:v>KDD Full</c:v>
                </c:pt>
              </c:strCache>
            </c:strRef>
          </c:cat>
          <c:val>
            <c:numRef>
              <c:f>Sheet1!$B$2:$B$6</c:f>
              <c:numCache>
                <c:formatCode>General</c:formatCode>
                <c:ptCount val="5"/>
                <c:pt idx="0">
                  <c:v>0.0</c:v>
                </c:pt>
                <c:pt idx="1">
                  <c:v>9.47</c:v>
                </c:pt>
                <c:pt idx="2">
                  <c:v>87.85</c:v>
                </c:pt>
                <c:pt idx="3">
                  <c:v>19.59</c:v>
                </c:pt>
                <c:pt idx="4">
                  <c:v>38.0</c:v>
                </c:pt>
              </c:numCache>
            </c:numRef>
          </c:val>
        </c:ser>
        <c:ser>
          <c:idx val="1"/>
          <c:order val="1"/>
          <c:tx>
            <c:strRef>
              <c:f>Sheet1!$C$1</c:f>
              <c:strCache>
                <c:ptCount val="1"/>
                <c:pt idx="0">
                  <c:v>HIP/GPU</c:v>
                </c:pt>
              </c:strCache>
            </c:strRef>
          </c:tx>
          <c:spPr>
            <a:solidFill>
              <a:srgbClr val="EF4444"/>
            </a:solidFill>
          </c:spPr>
          <c:cat>
            <c:strRef>
              <c:f>Sheet1!$A$2:$A$6</c:f>
              <c:strCache>
                <c:ptCount val="5"/>
                <c:pt idx="0">
                  <c:v>Mall</c:v>
                </c:pt>
                <c:pt idx="1">
                  <c:v>Cov7</c:v>
                </c:pt>
                <c:pt idx="2">
                  <c:v>Cov50</c:v>
                </c:pt>
                <c:pt idx="3">
                  <c:v>KDD10%</c:v>
                </c:pt>
                <c:pt idx="4">
                  <c:v>KDD Full</c:v>
                </c:pt>
              </c:strCache>
            </c:strRef>
          </c:cat>
          <c:val>
            <c:numRef>
              <c:f>Sheet1!$C$2:$C$6</c:f>
              <c:numCache>
                <c:formatCode>General</c:formatCode>
                <c:ptCount val="5"/>
                <c:pt idx="0">
                  <c:v>0.02</c:v>
                </c:pt>
                <c:pt idx="1">
                  <c:v>1.94</c:v>
                </c:pt>
                <c:pt idx="2">
                  <c:v>2.88</c:v>
                </c:pt>
                <c:pt idx="3">
                  <c:v>1.35</c:v>
                </c:pt>
                <c:pt idx="4">
                  <c:v>4.47</c:v>
                </c:pt>
              </c:numCache>
            </c:numRef>
          </c:val>
        </c:ser>
        <c:ser>
          <c:idx val="2"/>
          <c:order val="2"/>
          <c:tx>
            <c:strRef>
              <c:f>Sheet1!$D$1</c:f>
              <c:strCache>
                <c:ptCount val="1"/>
                <c:pt idx="0">
                  <c:v>MPI (4P)</c:v>
                </c:pt>
              </c:strCache>
            </c:strRef>
          </c:tx>
          <c:spPr>
            <a:solidFill>
              <a:srgbClr val="22C55E"/>
            </a:solidFill>
          </c:spPr>
          <c:cat>
            <c:strRef>
              <c:f>Sheet1!$A$2:$A$6</c:f>
              <c:strCache>
                <c:ptCount val="5"/>
                <c:pt idx="0">
                  <c:v>Mall</c:v>
                </c:pt>
                <c:pt idx="1">
                  <c:v>Cov7</c:v>
                </c:pt>
                <c:pt idx="2">
                  <c:v>Cov50</c:v>
                </c:pt>
                <c:pt idx="3">
                  <c:v>KDD10%</c:v>
                </c:pt>
                <c:pt idx="4">
                  <c:v>KDD Full</c:v>
                </c:pt>
              </c:strCache>
            </c:strRef>
          </c:cat>
          <c:val>
            <c:numRef>
              <c:f>Sheet1!$D$2:$D$6</c:f>
              <c:numCache>
                <c:formatCode>General</c:formatCode>
                <c:ptCount val="5"/>
                <c:pt idx="0">
                  <c:v>0.28</c:v>
                </c:pt>
                <c:pt idx="1">
                  <c:v>2.99</c:v>
                </c:pt>
                <c:pt idx="2">
                  <c:v>3.9</c:v>
                </c:pt>
                <c:pt idx="3">
                  <c:v>2.23</c:v>
                </c:pt>
                <c:pt idx="4">
                  <c:v>5.33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spPr>
            <a:ln>
              <a:solidFill>
                <a:srgbClr val="E2E8F0"/>
              </a:solidFill>
            </a:ln>
          </c:spPr>
        </c:majorGridlines>
        <c:title>
          <c:tx>
            <c:rich>
              <a:bodyPr/>
              <a:lstStyle/>
              <a:p>
                <a:r>
                  <a:t>Speedup Factor (x)</a:t>
                </a:r>
              </a:p>
            </c:rich>
          </c:tx>
          <c:layout/>
          <c:overlay val="0"/>
        </c:title>
        <c:majorTickMark val="out"/>
        <c:minorTickMark val="none"/>
        <c:tickLblPos val="nextTo"/>
        <c:crossAx val="-2068027336"/>
        <c:crosses val="autoZero"/>
      </c:valAx>
    </c:plotArea>
    <c:legend>
      <c:legendPos val="b"/>
      <c:overlay val="0"/>
      <c:txPr>
        <a:bodyPr/>
        <a:lstStyle/>
        <a:p>
          <a:pPr>
            <a:defRPr sz="1200">
              <a:solidFill>
                <a:srgbClr val="0F172A"/>
              </a:solidFill>
              <a:latin typeface="Calibri"/>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2011680"/>
            <a:ext cx="109728" cy="2926080"/>
          </a:xfrm>
          <a:prstGeom prst="rect">
            <a:avLst/>
          </a:prstGeom>
          <a:solidFill>
            <a:srgbClr val="06B6D4"/>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601200" cy="3108960"/>
          </a:xfrm>
          <a:prstGeom prst="rect">
            <a:avLst/>
          </a:prstGeom>
          <a:noFill/>
        </p:spPr>
        <p:txBody>
          <a:bodyPr wrap="square" lIns="0" tIns="0" rIns="0" bIns="0">
            <a:spAutoFit/>
          </a:bodyPr>
          <a:lstStyle/>
          <a:p>
            <a:pPr>
              <a:spcAft>
                <a:spcPts val="1650"/>
              </a:spcAft>
              <a:defRPr sz="1350" b="1">
                <a:solidFill>
                  <a:srgbClr val="06B6D4"/>
                </a:solidFill>
                <a:latin typeface="Calibri"/>
              </a:defRPr>
            </a:pPr>
            <a:r>
              <a:t>PARALLEL COMPUTING &amp; MACHINE LEARNING PROJECT</a:t>
            </a:r>
          </a:p>
          <a:p>
            <a:pPr>
              <a:defRPr sz="5000" b="1">
                <a:solidFill>
                  <a:srgbClr val="F1F5F9"/>
                </a:solidFill>
                <a:latin typeface="Trebuchet MS"/>
              </a:defRPr>
            </a:pPr>
            <a:r>
              <a:t>Accelerating Unsupervised Learning</a:t>
            </a:r>
          </a:p>
          <a:p>
            <a:pPr>
              <a:spcAft>
                <a:spcPts val="2300"/>
              </a:spcAft>
              <a:defRPr sz="3800" b="1">
                <a:solidFill>
                  <a:srgbClr val="F1F5F9"/>
                </a:solidFill>
                <a:latin typeface="Trebuchet MS"/>
              </a:defRPr>
            </a:pPr>
            <a:r>
              <a:t>K-Means Parallel Benchmarking Suite</a:t>
            </a:r>
          </a:p>
          <a:p>
            <a:pPr>
              <a:defRPr sz="1900">
                <a:solidFill>
                  <a:srgbClr val="64748B"/>
                </a:solidFill>
                <a:latin typeface="Calibri"/>
              </a:defRPr>
            </a:pPr>
            <a:r>
              <a:t>A performance comparison across CPU, GPU, MPI &amp; Vectorized BLAS on AMD Ryzen 7 7840HS</a:t>
            </a:r>
          </a:p>
        </p:txBody>
      </p:sp>
      <p:sp>
        <p:nvSpPr>
          <p:cNvPr id="4" name="TextBox 3"/>
          <p:cNvSpPr txBox="1"/>
          <p:nvPr/>
        </p:nvSpPr>
        <p:spPr>
          <a:xfrm>
            <a:off x="731520" y="6400800"/>
            <a:ext cx="10698480" cy="274320"/>
          </a:xfrm>
          <a:prstGeom prst="rect">
            <a:avLst/>
          </a:prstGeom>
          <a:noFill/>
        </p:spPr>
        <p:txBody>
          <a:bodyPr wrap="square" lIns="0" tIns="0" rIns="0" bIns="0">
            <a:spAutoFit/>
          </a:bodyPr>
          <a:lstStyle/>
          <a:p>
            <a:pPr>
              <a:defRPr sz="1100">
                <a:solidFill>
                  <a:srgbClr val="F1F5F9"/>
                </a:solidFill>
                <a:latin typeface="Calibri"/>
              </a:defRPr>
            </a:pPr>
            <a:r>
              <a:t>AMD Ryzen 7 7840HS &amp; Radeon 780M Benchmarking Suite | Page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Project Theme: K-Means Clustering &amp; Lloyd's Algorithm</a:t>
            </a:r>
          </a:p>
        </p:txBody>
      </p:sp>
      <p:sp>
        <p:nvSpPr>
          <p:cNvPr id="4" name="Rounded Rectangle 3"/>
          <p:cNvSpPr/>
          <p:nvPr/>
        </p:nvSpPr>
        <p:spPr>
          <a:xfrm>
            <a:off x="731520" y="164592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800"/>
              </a:spcAft>
              <a:defRPr sz="2200" b="1">
                <a:solidFill>
                  <a:srgbClr val="1E293B"/>
                </a:solidFill>
                <a:latin typeface="Trebuchet MS"/>
              </a:defRPr>
            </a:pPr>
            <a:r>
              <a:t>Lloyd's Algorithm (Standard K-Means)</a:t>
            </a:r>
          </a:p>
          <a:p>
            <a:pPr>
              <a:spcAft>
                <a:spcPts val="500"/>
              </a:spcAft>
              <a:defRPr sz="1300" b="0">
                <a:solidFill>
                  <a:srgbClr val="0F172A"/>
                </a:solidFill>
                <a:latin typeface="Calibri"/>
              </a:defRPr>
            </a:pPr>
            <a:r>
              <a:t>1. Initialize: Pick K random points as the initial centroids (Forgy method).</a:t>
            </a:r>
          </a:p>
          <a:p>
            <a:pPr>
              <a:spcAft>
                <a:spcPts val="500"/>
              </a:spcAft>
              <a:defRPr sz="1300" b="1">
                <a:solidFill>
                  <a:srgbClr val="06B6D4"/>
                </a:solidFill>
                <a:latin typeface="Calibri"/>
              </a:defRPr>
            </a:pPr>
            <a:r>
              <a:t>2. Assign (Expectation): Calculate the distance from every point to every centroid. Assign each point to its nearest centroid to form Voronoi partitions.</a:t>
            </a:r>
          </a:p>
          <a:p>
            <a:pPr>
              <a:spcAft>
                <a:spcPts val="500"/>
              </a:spcAft>
              <a:defRPr sz="1300" b="0">
                <a:solidFill>
                  <a:srgbClr val="0F172A"/>
                </a:solidFill>
                <a:latin typeface="Calibri"/>
              </a:defRPr>
            </a:pPr>
            <a:r>
              <a:t>3. Update (Maximization): Recompute the position of each centroid by calculating the arithmetic mean of all points assigned to it.</a:t>
            </a:r>
          </a:p>
          <a:p>
            <a:pPr>
              <a:spcAft>
                <a:spcPts val="500"/>
              </a:spcAft>
              <a:defRPr sz="1300" b="0">
                <a:solidFill>
                  <a:srgbClr val="0F172A"/>
                </a:solidFill>
                <a:latin typeface="Calibri"/>
              </a:defRPr>
            </a:pPr>
            <a:r>
              <a:t>4. Repeat: Loop through Steps 2 and 3 until no points change their cluster assignments (convergence guaranteed).</a:t>
            </a:r>
          </a:p>
        </p:txBody>
      </p:sp>
      <p:sp>
        <p:nvSpPr>
          <p:cNvPr id="5" name="Rounded Rectangle 4"/>
          <p:cNvSpPr/>
          <p:nvPr/>
        </p:nvSpPr>
        <p:spPr>
          <a:xfrm>
            <a:off x="6309360" y="164592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800"/>
              </a:spcAft>
              <a:defRPr sz="2200" b="1">
                <a:solidFill>
                  <a:srgbClr val="1E293B"/>
                </a:solidFill>
                <a:latin typeface="Trebuchet MS"/>
              </a:defRPr>
            </a:pPr>
            <a:r>
              <a:t>Complexity &amp; The Parallelization Goal</a:t>
            </a:r>
          </a:p>
          <a:p>
            <a:pPr>
              <a:spcAft>
                <a:spcPts val="800"/>
              </a:spcAft>
              <a:defRPr sz="1600" b="1">
                <a:solidFill>
                  <a:srgbClr val="EF4444"/>
                </a:solidFill>
                <a:latin typeface="Trebuchet MS"/>
              </a:defRPr>
            </a:pPr>
            <a:r>
              <a:t>Sequential Complexity: O(N × K × D × I)</a:t>
            </a:r>
          </a:p>
          <a:p>
            <a:pPr>
              <a:spcAft>
                <a:spcPts val="400"/>
              </a:spcAft>
              <a:defRPr sz="1250">
                <a:solidFill>
                  <a:srgbClr val="0F172A"/>
                </a:solidFill>
                <a:latin typeface="Calibri"/>
              </a:defRPr>
            </a:pPr>
            <a:r>
              <a:t>• N = Points, K = Clusters, D = Dimensions, I = Iterations.</a:t>
            </a:r>
          </a:p>
          <a:p>
            <a:pPr>
              <a:spcAft>
                <a:spcPts val="400"/>
              </a:spcAft>
              <a:defRPr sz="1250">
                <a:solidFill>
                  <a:srgbClr val="0F172A"/>
                </a:solidFill>
                <a:latin typeface="Calibri"/>
              </a:defRPr>
            </a:pPr>
            <a:r>
              <a:t>• The Bottleneck: The Assignment phase (Step 2) requires N × K distance calculations per iteration. For large datasets, this nested loop takes up &gt;95% of execution time.</a:t>
            </a:r>
          </a:p>
          <a:p>
            <a:pPr>
              <a:spcAft>
                <a:spcPts val="400"/>
              </a:spcAft>
              <a:defRPr sz="1250">
                <a:solidFill>
                  <a:srgbClr val="0F172A"/>
                </a:solidFill>
                <a:latin typeface="Calibri"/>
              </a:defRPr>
            </a:pPr>
            <a:r>
              <a:t>• The Parallel Opportunity: Step 2 is 'Embarrassingly Parallel'. Finding the nearest centroid for point A is completely independent of finding the nearest centroid for point B.</a:t>
            </a:r>
          </a:p>
          <a:p>
            <a:pPr>
              <a:spcAft>
                <a:spcPts val="400"/>
              </a:spcAft>
              <a:defRPr sz="1250">
                <a:solidFill>
                  <a:srgbClr val="0F172A"/>
                </a:solidFill>
                <a:latin typeface="Calibri"/>
              </a:defRPr>
            </a:pPr>
            <a:r>
              <a:t>• Project Goal: Exploit this independence across GPU threads (HIP), distributed memory architectures (MPI), and SIMD vectorization (scikit-learn) to drastically reduce execution time.</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Benchmarking Platform: Hardware Specifications</a:t>
            </a:r>
          </a:p>
        </p:txBody>
      </p:sp>
      <p:sp>
        <p:nvSpPr>
          <p:cNvPr id="4" name="Rounded Rectangle 3"/>
          <p:cNvSpPr/>
          <p:nvPr/>
        </p:nvSpPr>
        <p:spPr>
          <a:xfrm>
            <a:off x="731520" y="1645920"/>
            <a:ext cx="51206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2400" b="1">
                <a:solidFill>
                  <a:srgbClr val="1E293B"/>
                </a:solidFill>
                <a:latin typeface="Trebuchet MS"/>
              </a:defRPr>
            </a:pPr>
            <a:r>
              <a:t>AMD Ryzen 7 7840HS (CPU)</a:t>
            </a:r>
          </a:p>
          <a:p>
            <a:pPr>
              <a:spcAft>
                <a:spcPts val="600"/>
              </a:spcAft>
              <a:defRPr sz="1400">
                <a:solidFill>
                  <a:srgbClr val="0F172A"/>
                </a:solidFill>
                <a:latin typeface="Calibri"/>
              </a:defRPr>
            </a:pPr>
            <a:r>
              <a:t>• Architecture: Zen 4 (4nm TSMC lithography) for premium energy efficiency and performance density.</a:t>
            </a:r>
          </a:p>
          <a:p>
            <a:pPr>
              <a:spcAft>
                <a:spcPts val="600"/>
              </a:spcAft>
              <a:defRPr sz="1400">
                <a:solidFill>
                  <a:srgbClr val="0F172A"/>
                </a:solidFill>
                <a:latin typeface="Calibri"/>
              </a:defRPr>
            </a:pPr>
            <a:r>
              <a:t>• Cores / Threads: 8 Physical Cores, 16 Logic Threads with Simultaneous Multithreading (SMT).</a:t>
            </a:r>
          </a:p>
          <a:p>
            <a:pPr>
              <a:spcAft>
                <a:spcPts val="600"/>
              </a:spcAft>
              <a:defRPr sz="1400">
                <a:solidFill>
                  <a:srgbClr val="0F172A"/>
                </a:solidFill>
                <a:latin typeface="Calibri"/>
              </a:defRPr>
            </a:pPr>
            <a:r>
              <a:t>• Clocks: 3.8 GHz Base Clock, scaling dynamically up to 5.1 GHz Max Boost.</a:t>
            </a:r>
          </a:p>
          <a:p>
            <a:pPr>
              <a:spcAft>
                <a:spcPts val="600"/>
              </a:spcAft>
              <a:defRPr sz="1400">
                <a:solidFill>
                  <a:srgbClr val="0F172A"/>
                </a:solidFill>
                <a:latin typeface="Calibri"/>
              </a:defRPr>
            </a:pPr>
            <a:r>
              <a:t>• Cache Hierarchy: 8 MB L2 Cache + 16 MB L3 Cache feeding CPU cores with minimal memory stalls.</a:t>
            </a:r>
          </a:p>
          <a:p>
            <a:pPr>
              <a:spcAft>
                <a:spcPts val="600"/>
              </a:spcAft>
              <a:defRPr sz="1400">
                <a:solidFill>
                  <a:srgbClr val="0F172A"/>
                </a:solidFill>
                <a:latin typeface="Calibri"/>
              </a:defRPr>
            </a:pPr>
            <a:r>
              <a:t>• Role in Benchmark: Host controller, runs Sequential baseline C++ code, coordinates multi-threaded python loops, and runs 4-process MPI domain decomposition.</a:t>
            </a:r>
          </a:p>
        </p:txBody>
      </p:sp>
      <p:sp>
        <p:nvSpPr>
          <p:cNvPr id="5" name="Rounded Rectangle 4"/>
          <p:cNvSpPr/>
          <p:nvPr/>
        </p:nvSpPr>
        <p:spPr>
          <a:xfrm>
            <a:off x="6309360" y="1645920"/>
            <a:ext cx="51206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2400" b="1">
                <a:solidFill>
                  <a:srgbClr val="1E293B"/>
                </a:solidFill>
                <a:latin typeface="Trebuchet MS"/>
              </a:defRPr>
            </a:pPr>
            <a:r>
              <a:t>AMD Radeon 780M (iGPU)</a:t>
            </a:r>
          </a:p>
          <a:p>
            <a:pPr>
              <a:spcAft>
                <a:spcPts val="600"/>
              </a:spcAft>
              <a:defRPr sz="1400">
                <a:solidFill>
                  <a:srgbClr val="0F172A"/>
                </a:solidFill>
                <a:latin typeface="Calibri"/>
              </a:defRPr>
            </a:pPr>
            <a:r>
              <a:t>• Architecture: RDNA 3 graphics architecture. Code name: gfx1103.</a:t>
            </a:r>
          </a:p>
          <a:p>
            <a:pPr>
              <a:spcAft>
                <a:spcPts val="600"/>
              </a:spcAft>
              <a:defRPr sz="1400">
                <a:solidFill>
                  <a:srgbClr val="0F172A"/>
                </a:solidFill>
                <a:latin typeface="Calibri"/>
              </a:defRPr>
            </a:pPr>
            <a:r>
              <a:t>• Compute Units: 12 CUs containing 768 Stream Processors (Shaders) running up to 2.7 GHz.</a:t>
            </a:r>
          </a:p>
          <a:p>
            <a:pPr>
              <a:spcAft>
                <a:spcPts val="600"/>
              </a:spcAft>
              <a:defRPr sz="1400">
                <a:solidFill>
                  <a:srgbClr val="0F172A"/>
                </a:solidFill>
                <a:latin typeface="Calibri"/>
              </a:defRPr>
            </a:pPr>
            <a:r>
              <a:t>• Memory Architecture: Unified Memory Architecture (UMA) — shares host system RAM.</a:t>
            </a:r>
          </a:p>
          <a:p>
            <a:pPr>
              <a:spcAft>
                <a:spcPts val="600"/>
              </a:spcAft>
              <a:defRPr sz="1400">
                <a:solidFill>
                  <a:srgbClr val="0F172A"/>
                </a:solidFill>
                <a:latin typeface="Calibri"/>
              </a:defRPr>
            </a:pPr>
            <a:r>
              <a:t>• Bandwidth Limitation: Integrated GPU relies on DDR5/LPDDR5 memory channels rather than dedicated VRAM, creating a memory-bandwidth bottleneck during heavy data transfers.</a:t>
            </a:r>
          </a:p>
          <a:p>
            <a:pPr>
              <a:spcAft>
                <a:spcPts val="600"/>
              </a:spcAft>
              <a:defRPr sz="1400">
                <a:solidFill>
                  <a:srgbClr val="0F172A"/>
                </a:solidFill>
                <a:latin typeface="Calibri"/>
              </a:defRPr>
            </a:pPr>
            <a:r>
              <a:t>• Role in Benchmark: Offloads massively parallel Expectation step via HIP (Heterogeneous-Compute Interface for Portability).</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Four Implementations: Strategy &amp; Core Technologies</a:t>
            </a:r>
          </a:p>
        </p:txBody>
      </p:sp>
      <p:sp>
        <p:nvSpPr>
          <p:cNvPr id="4" name="Rounded Rectangle 3"/>
          <p:cNvSpPr/>
          <p:nvPr/>
        </p:nvSpPr>
        <p:spPr>
          <a:xfrm>
            <a:off x="731520" y="1645920"/>
            <a:ext cx="512064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900" b="1">
                <a:solidFill>
                  <a:srgbClr val="1E293B"/>
                </a:solidFill>
                <a:latin typeface="Trebuchet MS"/>
              </a:defRPr>
            </a:pPr>
            <a:r>
              <a:t>1. Sequential C++ Baseline</a:t>
            </a:r>
          </a:p>
          <a:p>
            <a:pPr>
              <a:spcAft>
                <a:spcPts val="1000"/>
              </a:spcAft>
              <a:defRPr sz="1350" b="1">
                <a:solidFill>
                  <a:srgbClr val="06B6D4"/>
                </a:solidFill>
                <a:latin typeface="Calibri"/>
              </a:defRPr>
            </a:pPr>
            <a:r>
              <a:t>G++ compiler | Flag: -O3</a:t>
            </a:r>
          </a:p>
          <a:p>
            <a:pPr>
              <a:defRPr sz="1400">
                <a:solidFill>
                  <a:srgbClr val="0F172A"/>
                </a:solidFill>
                <a:latin typeface="Calibri"/>
              </a:defRPr>
            </a:pPr>
            <a:r>
              <a:t>Single-threaded implementation designed as the control baseline. Employs Data-Oriented Design (DOD) with flat arrays to maximize L1/L2 cache hits.</a:t>
            </a:r>
          </a:p>
        </p:txBody>
      </p:sp>
      <p:sp>
        <p:nvSpPr>
          <p:cNvPr id="5" name="Rounded Rectangle 4"/>
          <p:cNvSpPr/>
          <p:nvPr/>
        </p:nvSpPr>
        <p:spPr>
          <a:xfrm>
            <a:off x="6309360" y="1645920"/>
            <a:ext cx="512064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900" b="1">
                <a:solidFill>
                  <a:srgbClr val="1E293B"/>
                </a:solidFill>
                <a:latin typeface="Trebuchet MS"/>
              </a:defRPr>
            </a:pPr>
            <a:r>
              <a:t>2. Vectorized scikit-learn</a:t>
            </a:r>
          </a:p>
          <a:p>
            <a:pPr>
              <a:spcAft>
                <a:spcPts val="1000"/>
              </a:spcAft>
              <a:defRPr sz="1350" b="1">
                <a:solidFill>
                  <a:srgbClr val="06B6D4"/>
                </a:solidFill>
                <a:latin typeface="Calibri"/>
              </a:defRPr>
            </a:pPr>
            <a:r>
              <a:t>Python | NumPy | OpenBLAS / Intel MKL</a:t>
            </a:r>
          </a:p>
          <a:p>
            <a:pPr>
              <a:defRPr sz="1400">
                <a:solidFill>
                  <a:srgbClr val="0F172A"/>
                </a:solidFill>
                <a:latin typeface="Calibri"/>
              </a:defRPr>
            </a:pPr>
            <a:r>
              <a:t>High-performance baseline. Bypasses nested Python loops by computing all N×K distances in a single matrix-multiplication operation via SIMD.</a:t>
            </a:r>
          </a:p>
        </p:txBody>
      </p:sp>
      <p:sp>
        <p:nvSpPr>
          <p:cNvPr id="6" name="Rounded Rectangle 5"/>
          <p:cNvSpPr/>
          <p:nvPr/>
        </p:nvSpPr>
        <p:spPr>
          <a:xfrm>
            <a:off x="731520" y="3840480"/>
            <a:ext cx="512064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900" b="1">
                <a:solidFill>
                  <a:srgbClr val="1E293B"/>
                </a:solidFill>
                <a:latin typeface="Trebuchet MS"/>
              </a:defRPr>
            </a:pPr>
            <a:r>
              <a:t>3. HIP / GPU Accelerated</a:t>
            </a:r>
          </a:p>
          <a:p>
            <a:pPr>
              <a:spcAft>
                <a:spcPts val="1000"/>
              </a:spcAft>
              <a:defRPr sz="1350" b="1">
                <a:solidFill>
                  <a:srgbClr val="06B6D4"/>
                </a:solidFill>
                <a:latin typeface="Calibri"/>
              </a:defRPr>
            </a:pPr>
            <a:r>
              <a:t>AMD ROCm Suite | hipcc compiler</a:t>
            </a:r>
          </a:p>
          <a:p>
            <a:pPr>
              <a:defRPr sz="1400">
                <a:solidFill>
                  <a:srgbClr val="0F172A"/>
                </a:solidFill>
                <a:latin typeface="Calibri"/>
              </a:defRPr>
            </a:pPr>
            <a:r>
              <a:t>Parallelizes distance calculations by offloading the Expectation loop to the 780M iGPU. Employs coalesced memory mapping.</a:t>
            </a:r>
          </a:p>
        </p:txBody>
      </p:sp>
      <p:sp>
        <p:nvSpPr>
          <p:cNvPr id="7" name="Rounded Rectangle 6"/>
          <p:cNvSpPr/>
          <p:nvPr/>
        </p:nvSpPr>
        <p:spPr>
          <a:xfrm>
            <a:off x="6309360" y="3840480"/>
            <a:ext cx="512064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900" b="1">
                <a:solidFill>
                  <a:srgbClr val="1E293B"/>
                </a:solidFill>
                <a:latin typeface="Trebuchet MS"/>
              </a:defRPr>
            </a:pPr>
            <a:r>
              <a:t>4. MPI Distributed C++</a:t>
            </a:r>
          </a:p>
          <a:p>
            <a:pPr>
              <a:spcAft>
                <a:spcPts val="1000"/>
              </a:spcAft>
              <a:defRPr sz="1350" b="1">
                <a:solidFill>
                  <a:srgbClr val="06B6D4"/>
                </a:solidFill>
                <a:latin typeface="Calibri"/>
              </a:defRPr>
            </a:pPr>
            <a:r>
              <a:t>OpenMPI | mpic++ compiler | 4 Processes</a:t>
            </a:r>
          </a:p>
          <a:p>
            <a:pPr>
              <a:defRPr sz="1400">
                <a:solidFill>
                  <a:srgbClr val="0F172A"/>
                </a:solidFill>
                <a:latin typeface="Calibri"/>
              </a:defRPr>
            </a:pPr>
            <a:r>
              <a:t>Distributed-memory model. Performs spatial domain decomposition to partition points. Sub-processes run global reductions via MPI_Allreduce.</a:t>
            </a:r>
          </a:p>
        </p:txBody>
      </p:sp>
      <p:sp>
        <p:nvSpPr>
          <p:cNvPr id="8" name="TextBox 7"/>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Logical Differences: The Assignment Phase (Expectation)</a:t>
            </a:r>
          </a:p>
        </p:txBody>
      </p:sp>
      <p:sp>
        <p:nvSpPr>
          <p:cNvPr id="4" name="Rounded Rectangle 3"/>
          <p:cNvSpPr/>
          <p:nvPr/>
        </p:nvSpPr>
        <p:spPr>
          <a:xfrm>
            <a:off x="731520" y="1645920"/>
            <a:ext cx="32918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2000" b="1">
                <a:solidFill>
                  <a:srgbClr val="1E293B"/>
                </a:solidFill>
                <a:latin typeface="Trebuchet MS"/>
              </a:defRPr>
            </a:pPr>
            <a:r>
              <a:t>CPU Loop (Sequential &amp; MPI)</a:t>
            </a:r>
          </a:p>
          <a:p>
            <a:pPr>
              <a:spcAft>
                <a:spcPts val="1650"/>
              </a:spcAft>
              <a:defRPr sz="1450" b="1">
                <a:solidFill>
                  <a:srgbClr val="06B6D4"/>
                </a:solidFill>
                <a:latin typeface="Calibri"/>
              </a:defRPr>
            </a:pPr>
            <a:r>
              <a:t>Explicit Nested Loops</a:t>
            </a:r>
          </a:p>
          <a:p>
            <a:pPr>
              <a:spcBef>
                <a:spcPts val="700"/>
              </a:spcBef>
              <a:defRPr sz="1400">
                <a:solidFill>
                  <a:srgbClr val="0F172A"/>
                </a:solidFill>
                <a:latin typeface="Calibri"/>
              </a:defRPr>
            </a:pPr>
            <a:r>
              <a:t>• Evaluates distances sequentially: O(N × K × D) calculations.</a:t>
            </a:r>
            <a:br/>
            <a:r>
              <a:t>• High Cache Locality: Flat 1D layout ensures CPU cache lines are filled with contiguous point features.</a:t>
            </a:r>
            <a:br/>
            <a:r>
              <a:t>• Core Bottleneck: CPU instructions are executed lineally, resulting in execution times scaling up to 10 minutes on large datasets.</a:t>
            </a:r>
            <a:br/>
            <a:r>
              <a:t>• MPI distributes this work: each process computes assignments on N/P points.</a:t>
            </a:r>
          </a:p>
        </p:txBody>
      </p:sp>
      <p:sp>
        <p:nvSpPr>
          <p:cNvPr id="5" name="Rounded Rectangle 4"/>
          <p:cNvSpPr/>
          <p:nvPr/>
        </p:nvSpPr>
        <p:spPr>
          <a:xfrm>
            <a:off x="4389120" y="1645920"/>
            <a:ext cx="32918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2000" b="1">
                <a:solidFill>
                  <a:srgbClr val="1E293B"/>
                </a:solidFill>
                <a:latin typeface="Trebuchet MS"/>
              </a:defRPr>
            </a:pPr>
            <a:r>
              <a:t>Vectorized BLAS (sklearn)</a:t>
            </a:r>
          </a:p>
          <a:p>
            <a:pPr>
              <a:spcAft>
                <a:spcPts val="1650"/>
              </a:spcAft>
              <a:defRPr sz="1450" b="1">
                <a:solidFill>
                  <a:srgbClr val="06B6D4"/>
                </a:solidFill>
                <a:latin typeface="Calibri"/>
              </a:defRPr>
            </a:pPr>
            <a:r>
              <a:t>The Kernel Trick GEMM</a:t>
            </a:r>
          </a:p>
          <a:p>
            <a:pPr>
              <a:spcBef>
                <a:spcPts val="700"/>
              </a:spcBef>
              <a:defRPr sz="1400">
                <a:solidFill>
                  <a:srgbClr val="0F172A"/>
                </a:solidFill>
                <a:latin typeface="Calibri"/>
              </a:defRPr>
            </a:pPr>
            <a:r>
              <a:t>• Bypasses the O(N × K × D) coordinate loop entirely by formulating distance as a matrix operation:</a:t>
            </a:r>
            <a:br/>
            <a:r>
              <a:t>  ||X - C||² = ||X||² - 2XCᵀ + ||C||²</a:t>
            </a:r>
            <a:br/>
            <a:r>
              <a:t>• The -2XCᵀ term is computed via highly optimized Level-3 BLAS.</a:t>
            </a:r>
            <a:br/>
            <a:r>
              <a:t>• Leverages cache-blocking and CPU SIMD vector units, achieving the fastest times.</a:t>
            </a:r>
          </a:p>
        </p:txBody>
      </p:sp>
      <p:sp>
        <p:nvSpPr>
          <p:cNvPr id="6" name="Rounded Rectangle 5"/>
          <p:cNvSpPr/>
          <p:nvPr/>
        </p:nvSpPr>
        <p:spPr>
          <a:xfrm>
            <a:off x="8046720" y="1645920"/>
            <a:ext cx="32918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2000" b="1">
                <a:solidFill>
                  <a:srgbClr val="1E293B"/>
                </a:solidFill>
                <a:latin typeface="Trebuchet MS"/>
              </a:defRPr>
            </a:pPr>
            <a:r>
              <a:t>GPU Kernel Parallelism</a:t>
            </a:r>
          </a:p>
          <a:p>
            <a:pPr>
              <a:spcAft>
                <a:spcPts val="1650"/>
              </a:spcAft>
              <a:defRPr sz="1450" b="1">
                <a:solidFill>
                  <a:srgbClr val="06B6D4"/>
                </a:solidFill>
                <a:latin typeface="Calibri"/>
              </a:defRPr>
            </a:pPr>
            <a:r>
              <a:t>Massively Parallel Threads</a:t>
            </a:r>
          </a:p>
          <a:p>
            <a:pPr>
              <a:spcBef>
                <a:spcPts val="700"/>
              </a:spcBef>
              <a:defRPr sz="1400">
                <a:solidFill>
                  <a:srgbClr val="0F172A"/>
                </a:solidFill>
                <a:latin typeface="Calibri"/>
              </a:defRPr>
            </a:pPr>
            <a:r>
              <a:t>• Launches a 1D grid with a block size of 256 threads.</a:t>
            </a:r>
            <a:br/>
            <a:r>
              <a:t>• Direct Mapping: Each thread is mapped to exactly one point index i via: blockIdx.x * blockDim.x + threadIdx.x.</a:t>
            </a:r>
            <a:br/>
            <a:r>
              <a:t>• Embarrassingly Parallel: All N points calculate distance to all K centroids simultaneously.</a:t>
            </a:r>
            <a:br/>
            <a:r>
              <a:t>• Offloads the core bottleneck from host CPU cores.</a:t>
            </a:r>
          </a:p>
        </p:txBody>
      </p:sp>
      <p:sp>
        <p:nvSpPr>
          <p:cNvPr id="7" name="TextBox 6"/>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Logical Differences: Centroid Update &amp; Hybrid GPU-CPU Model</a:t>
            </a:r>
          </a:p>
        </p:txBody>
      </p:sp>
      <p:sp>
        <p:nvSpPr>
          <p:cNvPr id="4" name="Rounded Rectangle 3"/>
          <p:cNvSpPr/>
          <p:nvPr/>
        </p:nvSpPr>
        <p:spPr>
          <a:xfrm>
            <a:off x="731520" y="1645920"/>
            <a:ext cx="106984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2100" b="1">
                <a:solidFill>
                  <a:srgbClr val="1E293B"/>
                </a:solidFill>
                <a:latin typeface="Trebuchet MS"/>
              </a:defRPr>
            </a:pPr>
            <a:r>
              <a:t>The Bottleneck: GPU Atomic Add Contention</a:t>
            </a:r>
          </a:p>
          <a:p>
            <a:pPr>
              <a:defRPr sz="1450">
                <a:solidFill>
                  <a:srgbClr val="0F172A"/>
                </a:solidFill>
                <a:latin typeface="Calibri"/>
              </a:defRPr>
            </a:pPr>
            <a:r>
              <a:t>In Lloyd's algorithm, updating centroids (Maximization) requires accumulating coordinates of all points in each cluster. Performing this on the GPU via global memory requires double-precision atomicAdd operations. When millions of threads write to just 23 or 50 centroid memory locations, severe memory serialization occurs. The threads queue up to execute writes, causing performance to drop below the sequential CPU baseline.</a:t>
            </a:r>
          </a:p>
        </p:txBody>
      </p:sp>
      <p:sp>
        <p:nvSpPr>
          <p:cNvPr id="5" name="Rounded Rectangle 4"/>
          <p:cNvSpPr/>
          <p:nvPr/>
        </p:nvSpPr>
        <p:spPr>
          <a:xfrm>
            <a:off x="731520" y="3840480"/>
            <a:ext cx="10698480" cy="1920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2100" b="1">
                <a:solidFill>
                  <a:srgbClr val="06B6D4"/>
                </a:solidFill>
                <a:latin typeface="Trebuchet MS"/>
              </a:defRPr>
            </a:pPr>
            <a:r>
              <a:t>The Solution: Hybrid CPU-GPU Pipeline</a:t>
            </a:r>
          </a:p>
          <a:p>
            <a:pPr>
              <a:defRPr sz="1450">
                <a:solidFill>
                  <a:srgbClr val="0F172A"/>
                </a:solidFill>
                <a:latin typeface="Calibri"/>
              </a:defRPr>
            </a:pPr>
            <a:r>
              <a:t>To resolve contention, we implemented a hybrid model: (1) The GPU computes assignments (Expectation) in parallel. (2) The flat assignments array (~19.6 MB for 5M points) is transferred back to the CPU (taking &lt;1.5 ms over UMA system bus). (3) The CPU handles centroid accumulation (Maximization) sequentially in O(N × D) time. This hybrid approach yielded a 6.4× speedup over the naive atomic GPU implementation.</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Performance Comparison: Synthetic Datasets</a:t>
            </a:r>
          </a:p>
        </p:txBody>
      </p:sp>
      <p:graphicFrame>
        <p:nvGraphicFramePr>
          <p:cNvPr id="4" name="Table 3"/>
          <p:cNvGraphicFramePr>
            <a:graphicFrameLocks noGrp="1"/>
          </p:cNvGraphicFramePr>
          <p:nvPr/>
        </p:nvGraphicFramePr>
        <p:xfrm>
          <a:off x="731520" y="1645920"/>
          <a:ext cx="7498080" cy="4114800"/>
        </p:xfrm>
        <a:graphic>
          <a:graphicData uri="http://schemas.openxmlformats.org/drawingml/2006/table">
            <a:tbl>
              <a:tblPr firstRow="1" bandRow="1">
                <a:tableStyleId>{5C22544A-7EE6-4342-B048-85BDC9FD1C3A}</a:tableStyleId>
              </a:tblPr>
              <a:tblGrid>
                <a:gridCol w="1645920"/>
                <a:gridCol w="640080"/>
                <a:gridCol w="457200"/>
                <a:gridCol w="457200"/>
                <a:gridCol w="1097280"/>
                <a:gridCol w="1005840"/>
                <a:gridCol w="1097280"/>
                <a:gridCol w="1097280"/>
              </a:tblGrid>
              <a:tr h="685800">
                <a:tc>
                  <a:txBody>
                    <a:bodyPr/>
                    <a:lstStyle/>
                    <a:p>
                      <a:pPr algn="ctr">
                        <a:defRPr sz="1350" b="1">
                          <a:solidFill>
                            <a:srgbClr val="F1F5F9"/>
                          </a:solidFill>
                          <a:latin typeface="Trebuchet MS"/>
                        </a:defRPr>
                      </a:pPr>
                      <a:r>
                        <a:t>Dataset Level</a:t>
                      </a:r>
                    </a:p>
                  </a:txBody>
                  <a:tcPr anchor="ctr">
                    <a:solidFill>
                      <a:srgbClr val="1E293B"/>
                    </a:solidFill>
                  </a:tcPr>
                </a:tc>
                <a:tc>
                  <a:txBody>
                    <a:bodyPr/>
                    <a:lstStyle/>
                    <a:p>
                      <a:pPr algn="ctr">
                        <a:defRPr sz="1350" b="1">
                          <a:solidFill>
                            <a:srgbClr val="F1F5F9"/>
                          </a:solidFill>
                          <a:latin typeface="Trebuchet MS"/>
                        </a:defRPr>
                      </a:pPr>
                      <a:r>
                        <a:t>N (Pts)</a:t>
                      </a:r>
                    </a:p>
                  </a:txBody>
                  <a:tcPr anchor="ctr">
                    <a:solidFill>
                      <a:srgbClr val="1E293B"/>
                    </a:solidFill>
                  </a:tcPr>
                </a:tc>
                <a:tc>
                  <a:txBody>
                    <a:bodyPr/>
                    <a:lstStyle/>
                    <a:p>
                      <a:pPr algn="ctr">
                        <a:defRPr sz="1350" b="1">
                          <a:solidFill>
                            <a:srgbClr val="F1F5F9"/>
                          </a:solidFill>
                          <a:latin typeface="Trebuchet MS"/>
                        </a:defRPr>
                      </a:pPr>
                      <a:r>
                        <a:t>D</a:t>
                      </a:r>
                    </a:p>
                  </a:txBody>
                  <a:tcPr anchor="ctr">
                    <a:solidFill>
                      <a:srgbClr val="1E293B"/>
                    </a:solidFill>
                  </a:tcPr>
                </a:tc>
                <a:tc>
                  <a:txBody>
                    <a:bodyPr/>
                    <a:lstStyle/>
                    <a:p>
                      <a:pPr algn="ctr">
                        <a:defRPr sz="1350" b="1">
                          <a:solidFill>
                            <a:srgbClr val="F1F5F9"/>
                          </a:solidFill>
                          <a:latin typeface="Trebuchet MS"/>
                        </a:defRPr>
                      </a:pPr>
                      <a:r>
                        <a:t>K</a:t>
                      </a:r>
                    </a:p>
                  </a:txBody>
                  <a:tcPr anchor="ctr">
                    <a:solidFill>
                      <a:srgbClr val="1E293B"/>
                    </a:solidFill>
                  </a:tcPr>
                </a:tc>
                <a:tc>
                  <a:txBody>
                    <a:bodyPr/>
                    <a:lstStyle/>
                    <a:p>
                      <a:pPr algn="ctr">
                        <a:defRPr sz="1350" b="1">
                          <a:solidFill>
                            <a:srgbClr val="F1F5F9"/>
                          </a:solidFill>
                          <a:latin typeface="Trebuchet MS"/>
                        </a:defRPr>
                      </a:pPr>
                      <a:r>
                        <a:t>Seq C++</a:t>
                      </a:r>
                    </a:p>
                  </a:txBody>
                  <a:tcPr anchor="ctr">
                    <a:solidFill>
                      <a:srgbClr val="1E293B"/>
                    </a:solidFill>
                  </a:tcPr>
                </a:tc>
                <a:tc>
                  <a:txBody>
                    <a:bodyPr/>
                    <a:lstStyle/>
                    <a:p>
                      <a:pPr algn="ctr">
                        <a:defRPr sz="1350" b="1">
                          <a:solidFill>
                            <a:srgbClr val="F1F5F9"/>
                          </a:solidFill>
                          <a:latin typeface="Trebuchet MS"/>
                        </a:defRPr>
                      </a:pPr>
                      <a:r>
                        <a:t>scikit-learn</a:t>
                      </a:r>
                    </a:p>
                  </a:txBody>
                  <a:tcPr anchor="ctr">
                    <a:solidFill>
                      <a:srgbClr val="1E293B"/>
                    </a:solidFill>
                  </a:tcPr>
                </a:tc>
                <a:tc>
                  <a:txBody>
                    <a:bodyPr/>
                    <a:lstStyle/>
                    <a:p>
                      <a:pPr algn="ctr">
                        <a:defRPr sz="1350" b="1">
                          <a:solidFill>
                            <a:srgbClr val="F1F5F9"/>
                          </a:solidFill>
                          <a:latin typeface="Trebuchet MS"/>
                        </a:defRPr>
                      </a:pPr>
                      <a:r>
                        <a:t>HIP/GPU (AMD)</a:t>
                      </a:r>
                    </a:p>
                  </a:txBody>
                  <a:tcPr anchor="ctr">
                    <a:solidFill>
                      <a:srgbClr val="1E293B"/>
                    </a:solidFill>
                  </a:tcPr>
                </a:tc>
                <a:tc>
                  <a:txBody>
                    <a:bodyPr/>
                    <a:lstStyle/>
                    <a:p>
                      <a:pPr algn="ctr">
                        <a:defRPr sz="1350" b="1">
                          <a:solidFill>
                            <a:srgbClr val="F1F5F9"/>
                          </a:solidFill>
                          <a:latin typeface="Trebuchet MS"/>
                        </a:defRPr>
                      </a:pPr>
                      <a:r>
                        <a:t>MPI (4 P)</a:t>
                      </a:r>
                    </a:p>
                  </a:txBody>
                  <a:tcPr anchor="ctr">
                    <a:solidFill>
                      <a:srgbClr val="1E293B"/>
                    </a:solidFill>
                  </a:tcPr>
                </a:tc>
              </a:tr>
              <a:tr h="685800">
                <a:tc>
                  <a:txBody>
                    <a:bodyPr/>
                    <a:lstStyle/>
                    <a:p>
                      <a:pPr algn="l">
                        <a:defRPr sz="1350">
                          <a:solidFill>
                            <a:srgbClr val="0F172A"/>
                          </a:solidFill>
                          <a:latin typeface="Calibri"/>
                        </a:defRPr>
                      </a:pPr>
                      <a:r>
                        <a:t>1. Very Small</a:t>
                      </a:r>
                    </a:p>
                  </a:txBody>
                  <a:tcPr anchor="ctr">
                    <a:solidFill>
                      <a:srgbClr val="FFFFFF"/>
                    </a:solidFill>
                  </a:tcPr>
                </a:tc>
                <a:tc>
                  <a:txBody>
                    <a:bodyPr/>
                    <a:lstStyle/>
                    <a:p>
                      <a:pPr algn="ctr">
                        <a:defRPr sz="1350">
                          <a:solidFill>
                            <a:srgbClr val="0F172A"/>
                          </a:solidFill>
                          <a:latin typeface="Calibri"/>
                        </a:defRPr>
                      </a:pPr>
                      <a:r>
                        <a:t>250K</a:t>
                      </a:r>
                    </a:p>
                  </a:txBody>
                  <a:tcPr anchor="ctr">
                    <a:solidFill>
                      <a:srgbClr val="FFFFFF"/>
                    </a:solidFill>
                  </a:tcPr>
                </a:tc>
                <a:tc>
                  <a:txBody>
                    <a:bodyPr/>
                    <a:lstStyle/>
                    <a:p>
                      <a:pPr algn="ctr">
                        <a:defRPr sz="1350">
                          <a:solidFill>
                            <a:srgbClr val="0F172A"/>
                          </a:solidFill>
                          <a:latin typeface="Calibri"/>
                        </a:defRPr>
                      </a:pPr>
                      <a:r>
                        <a:t>16</a:t>
                      </a:r>
                    </a:p>
                  </a:txBody>
                  <a:tcPr anchor="ctr">
                    <a:solidFill>
                      <a:srgbClr val="FFFFFF"/>
                    </a:solidFill>
                  </a:tcPr>
                </a:tc>
                <a:tc>
                  <a:txBody>
                    <a:bodyPr/>
                    <a:lstStyle/>
                    <a:p>
                      <a:pPr algn="ctr">
                        <a:defRPr sz="1350">
                          <a:solidFill>
                            <a:srgbClr val="0F172A"/>
                          </a:solidFill>
                          <a:latin typeface="Calibri"/>
                        </a:defRPr>
                      </a:pPr>
                      <a:r>
                        <a:t>32</a:t>
                      </a:r>
                    </a:p>
                  </a:txBody>
                  <a:tcPr anchor="ctr">
                    <a:solidFill>
                      <a:srgbClr val="FFFFFF"/>
                    </a:solidFill>
                  </a:tcPr>
                </a:tc>
                <a:tc>
                  <a:txBody>
                    <a:bodyPr/>
                    <a:lstStyle/>
                    <a:p>
                      <a:pPr algn="ctr">
                        <a:defRPr sz="1350">
                          <a:solidFill>
                            <a:srgbClr val="0F172A"/>
                          </a:solidFill>
                          <a:latin typeface="Calibri"/>
                        </a:defRPr>
                      </a:pPr>
                      <a:r>
                        <a:t>4,965 ms</a:t>
                      </a:r>
                    </a:p>
                  </a:txBody>
                  <a:tcPr anchor="ctr">
                    <a:solidFill>
                      <a:srgbClr val="FFFFFF"/>
                    </a:solidFill>
                  </a:tcPr>
                </a:tc>
                <a:tc>
                  <a:txBody>
                    <a:bodyPr/>
                    <a:lstStyle/>
                    <a:p>
                      <a:pPr algn="ctr">
                        <a:defRPr sz="1350" b="1">
                          <a:solidFill>
                            <a:srgbClr val="06B6D4"/>
                          </a:solidFill>
                          <a:latin typeface="Calibri"/>
                        </a:defRPr>
                      </a:pPr>
                      <a:r>
                        <a:t>396 ms</a:t>
                      </a:r>
                    </a:p>
                  </a:txBody>
                  <a:tcPr anchor="ctr">
                    <a:solidFill>
                      <a:srgbClr val="FFFFFF"/>
                    </a:solidFill>
                  </a:tcPr>
                </a:tc>
                <a:tc>
                  <a:txBody>
                    <a:bodyPr/>
                    <a:lstStyle/>
                    <a:p>
                      <a:pPr algn="ctr">
                        <a:defRPr sz="1350">
                          <a:solidFill>
                            <a:srgbClr val="0F172A"/>
                          </a:solidFill>
                          <a:latin typeface="Calibri"/>
                        </a:defRPr>
                      </a:pPr>
                      <a:r>
                        <a:t>2,122 ms</a:t>
                      </a:r>
                    </a:p>
                  </a:txBody>
                  <a:tcPr anchor="ctr">
                    <a:solidFill>
                      <a:srgbClr val="FFFFFF"/>
                    </a:solidFill>
                  </a:tcPr>
                </a:tc>
                <a:tc>
                  <a:txBody>
                    <a:bodyPr/>
                    <a:lstStyle/>
                    <a:p>
                      <a:pPr algn="ctr">
                        <a:defRPr sz="1350">
                          <a:solidFill>
                            <a:srgbClr val="0F172A"/>
                          </a:solidFill>
                          <a:latin typeface="Calibri"/>
                        </a:defRPr>
                      </a:pPr>
                      <a:r>
                        <a:t>1,484 ms</a:t>
                      </a:r>
                    </a:p>
                  </a:txBody>
                  <a:tcPr anchor="ctr">
                    <a:solidFill>
                      <a:srgbClr val="FFFFFF"/>
                    </a:solidFill>
                  </a:tcPr>
                </a:tc>
              </a:tr>
              <a:tr h="685800">
                <a:tc>
                  <a:txBody>
                    <a:bodyPr/>
                    <a:lstStyle/>
                    <a:p>
                      <a:pPr algn="l">
                        <a:defRPr sz="1350">
                          <a:solidFill>
                            <a:srgbClr val="0F172A"/>
                          </a:solidFill>
                          <a:latin typeface="Calibri"/>
                        </a:defRPr>
                      </a:pPr>
                      <a:r>
                        <a:t>2. Small</a:t>
                      </a:r>
                    </a:p>
                  </a:txBody>
                  <a:tcPr anchor="ctr">
                    <a:solidFill>
                      <a:srgbClr val="F1F5F9"/>
                    </a:solidFill>
                  </a:tcPr>
                </a:tc>
                <a:tc>
                  <a:txBody>
                    <a:bodyPr/>
                    <a:lstStyle/>
                    <a:p>
                      <a:pPr algn="ctr">
                        <a:defRPr sz="1350">
                          <a:solidFill>
                            <a:srgbClr val="0F172A"/>
                          </a:solidFill>
                          <a:latin typeface="Calibri"/>
                        </a:defRPr>
                      </a:pPr>
                      <a:r>
                        <a:t>700K</a:t>
                      </a:r>
                    </a:p>
                  </a:txBody>
                  <a:tcPr anchor="ctr">
                    <a:solidFill>
                      <a:srgbClr val="F1F5F9"/>
                    </a:solidFill>
                  </a:tcPr>
                </a:tc>
                <a:tc>
                  <a:txBody>
                    <a:bodyPr/>
                    <a:lstStyle/>
                    <a:p>
                      <a:pPr algn="ctr">
                        <a:defRPr sz="1350">
                          <a:solidFill>
                            <a:srgbClr val="0F172A"/>
                          </a:solidFill>
                          <a:latin typeface="Calibri"/>
                        </a:defRPr>
                      </a:pPr>
                      <a:r>
                        <a:t>32</a:t>
                      </a:r>
                    </a:p>
                  </a:txBody>
                  <a:tcPr anchor="ctr">
                    <a:solidFill>
                      <a:srgbClr val="F1F5F9"/>
                    </a:solidFill>
                  </a:tcPr>
                </a:tc>
                <a:tc>
                  <a:txBody>
                    <a:bodyPr/>
                    <a:lstStyle/>
                    <a:p>
                      <a:pPr algn="ctr">
                        <a:defRPr sz="1350">
                          <a:solidFill>
                            <a:srgbClr val="0F172A"/>
                          </a:solidFill>
                          <a:latin typeface="Calibri"/>
                        </a:defRPr>
                      </a:pPr>
                      <a:r>
                        <a:t>32</a:t>
                      </a:r>
                    </a:p>
                  </a:txBody>
                  <a:tcPr anchor="ctr">
                    <a:solidFill>
                      <a:srgbClr val="F1F5F9"/>
                    </a:solidFill>
                  </a:tcPr>
                </a:tc>
                <a:tc>
                  <a:txBody>
                    <a:bodyPr/>
                    <a:lstStyle/>
                    <a:p>
                      <a:pPr algn="ctr">
                        <a:defRPr sz="1350">
                          <a:solidFill>
                            <a:srgbClr val="0F172A"/>
                          </a:solidFill>
                          <a:latin typeface="Calibri"/>
                        </a:defRPr>
                      </a:pPr>
                      <a:r>
                        <a:t>39,605 ms</a:t>
                      </a:r>
                    </a:p>
                  </a:txBody>
                  <a:tcPr anchor="ctr">
                    <a:solidFill>
                      <a:srgbClr val="F1F5F9"/>
                    </a:solidFill>
                  </a:tcPr>
                </a:tc>
                <a:tc>
                  <a:txBody>
                    <a:bodyPr/>
                    <a:lstStyle/>
                    <a:p>
                      <a:pPr algn="ctr">
                        <a:defRPr sz="1350" b="1">
                          <a:solidFill>
                            <a:srgbClr val="06B6D4"/>
                          </a:solidFill>
                          <a:latin typeface="Calibri"/>
                        </a:defRPr>
                      </a:pPr>
                      <a:r>
                        <a:t>1,722 ms</a:t>
                      </a:r>
                    </a:p>
                  </a:txBody>
                  <a:tcPr anchor="ctr">
                    <a:solidFill>
                      <a:srgbClr val="F1F5F9"/>
                    </a:solidFill>
                  </a:tcPr>
                </a:tc>
                <a:tc>
                  <a:txBody>
                    <a:bodyPr/>
                    <a:lstStyle/>
                    <a:p>
                      <a:pPr algn="ctr">
                        <a:defRPr sz="1350">
                          <a:solidFill>
                            <a:srgbClr val="0F172A"/>
                          </a:solidFill>
                          <a:latin typeface="Calibri"/>
                        </a:defRPr>
                      </a:pPr>
                      <a:r>
                        <a:t>15,031 ms</a:t>
                      </a:r>
                    </a:p>
                  </a:txBody>
                  <a:tcPr anchor="ctr">
                    <a:solidFill>
                      <a:srgbClr val="F1F5F9"/>
                    </a:solidFill>
                  </a:tcPr>
                </a:tc>
                <a:tc>
                  <a:txBody>
                    <a:bodyPr/>
                    <a:lstStyle/>
                    <a:p>
                      <a:pPr algn="ctr">
                        <a:defRPr sz="1350">
                          <a:solidFill>
                            <a:srgbClr val="0F172A"/>
                          </a:solidFill>
                          <a:latin typeface="Calibri"/>
                        </a:defRPr>
                      </a:pPr>
                      <a:r>
                        <a:t>9,502 ms</a:t>
                      </a:r>
                    </a:p>
                  </a:txBody>
                  <a:tcPr anchor="ctr">
                    <a:solidFill>
                      <a:srgbClr val="F1F5F9"/>
                    </a:solidFill>
                  </a:tcPr>
                </a:tc>
              </a:tr>
              <a:tr h="685800">
                <a:tc>
                  <a:txBody>
                    <a:bodyPr/>
                    <a:lstStyle/>
                    <a:p>
                      <a:pPr algn="l">
                        <a:defRPr sz="1350">
                          <a:solidFill>
                            <a:srgbClr val="0F172A"/>
                          </a:solidFill>
                          <a:latin typeface="Calibri"/>
                        </a:defRPr>
                      </a:pPr>
                      <a:r>
                        <a:t>3. Medium</a:t>
                      </a:r>
                    </a:p>
                  </a:txBody>
                  <a:tcPr anchor="ctr">
                    <a:solidFill>
                      <a:srgbClr val="FFFFFF"/>
                    </a:solidFill>
                  </a:tcPr>
                </a:tc>
                <a:tc>
                  <a:txBody>
                    <a:bodyPr/>
                    <a:lstStyle/>
                    <a:p>
                      <a:pPr algn="ctr">
                        <a:defRPr sz="1350">
                          <a:solidFill>
                            <a:srgbClr val="0F172A"/>
                          </a:solidFill>
                          <a:latin typeface="Calibri"/>
                        </a:defRPr>
                      </a:pPr>
                      <a:r>
                        <a:t>1.4M</a:t>
                      </a:r>
                    </a:p>
                  </a:txBody>
                  <a:tcPr anchor="ctr">
                    <a:solidFill>
                      <a:srgbClr val="FFFFFF"/>
                    </a:solidFill>
                  </a:tcPr>
                </a:tc>
                <a:tc>
                  <a:txBody>
                    <a:bodyPr/>
                    <a:lstStyle/>
                    <a:p>
                      <a:pPr algn="ctr">
                        <a:defRPr sz="1350">
                          <a:solidFill>
                            <a:srgbClr val="0F172A"/>
                          </a:solidFill>
                          <a:latin typeface="Calibri"/>
                        </a:defRPr>
                      </a:pPr>
                      <a:r>
                        <a:t>32</a:t>
                      </a:r>
                    </a:p>
                  </a:txBody>
                  <a:tcPr anchor="ctr">
                    <a:solidFill>
                      <a:srgbClr val="FFFFFF"/>
                    </a:solidFill>
                  </a:tcPr>
                </a:tc>
                <a:tc>
                  <a:txBody>
                    <a:bodyPr/>
                    <a:lstStyle/>
                    <a:p>
                      <a:pPr algn="ctr">
                        <a:defRPr sz="1350">
                          <a:solidFill>
                            <a:srgbClr val="0F172A"/>
                          </a:solidFill>
                          <a:latin typeface="Calibri"/>
                        </a:defRPr>
                      </a:pPr>
                      <a:r>
                        <a:t>64</a:t>
                      </a:r>
                    </a:p>
                  </a:txBody>
                  <a:tcPr anchor="ctr">
                    <a:solidFill>
                      <a:srgbClr val="FFFFFF"/>
                    </a:solidFill>
                  </a:tcPr>
                </a:tc>
                <a:tc>
                  <a:txBody>
                    <a:bodyPr/>
                    <a:lstStyle/>
                    <a:p>
                      <a:pPr algn="ctr">
                        <a:defRPr sz="1350">
                          <a:solidFill>
                            <a:srgbClr val="0F172A"/>
                          </a:solidFill>
                          <a:latin typeface="Calibri"/>
                        </a:defRPr>
                      </a:pPr>
                      <a:r>
                        <a:t>212,183 ms</a:t>
                      </a:r>
                    </a:p>
                  </a:txBody>
                  <a:tcPr anchor="ctr">
                    <a:solidFill>
                      <a:srgbClr val="FFFFFF"/>
                    </a:solidFill>
                  </a:tcPr>
                </a:tc>
                <a:tc>
                  <a:txBody>
                    <a:bodyPr/>
                    <a:lstStyle/>
                    <a:p>
                      <a:pPr algn="ctr">
                        <a:defRPr sz="1350" b="1">
                          <a:solidFill>
                            <a:srgbClr val="06B6D4"/>
                          </a:solidFill>
                          <a:latin typeface="Calibri"/>
                        </a:defRPr>
                      </a:pPr>
                      <a:r>
                        <a:t>8,109 ms</a:t>
                      </a:r>
                    </a:p>
                  </a:txBody>
                  <a:tcPr anchor="ctr">
                    <a:solidFill>
                      <a:srgbClr val="FFFFFF"/>
                    </a:solidFill>
                  </a:tcPr>
                </a:tc>
                <a:tc>
                  <a:txBody>
                    <a:bodyPr/>
                    <a:lstStyle/>
                    <a:p>
                      <a:pPr algn="ctr">
                        <a:defRPr sz="1350">
                          <a:solidFill>
                            <a:srgbClr val="0F172A"/>
                          </a:solidFill>
                          <a:latin typeface="Calibri"/>
                        </a:defRPr>
                      </a:pPr>
                      <a:r>
                        <a:t>48,300 ms</a:t>
                      </a:r>
                    </a:p>
                  </a:txBody>
                  <a:tcPr anchor="ctr">
                    <a:solidFill>
                      <a:srgbClr val="FFFFFF"/>
                    </a:solidFill>
                  </a:tcPr>
                </a:tc>
                <a:tc>
                  <a:txBody>
                    <a:bodyPr/>
                    <a:lstStyle/>
                    <a:p>
                      <a:pPr algn="ctr">
                        <a:defRPr sz="1350">
                          <a:solidFill>
                            <a:srgbClr val="0F172A"/>
                          </a:solidFill>
                          <a:latin typeface="Calibri"/>
                        </a:defRPr>
                      </a:pPr>
                      <a:r>
                        <a:t>53,818 ms</a:t>
                      </a:r>
                    </a:p>
                  </a:txBody>
                  <a:tcPr anchor="ctr">
                    <a:solidFill>
                      <a:srgbClr val="FFFFFF"/>
                    </a:solidFill>
                  </a:tcPr>
                </a:tc>
              </a:tr>
              <a:tr h="685800">
                <a:tc>
                  <a:txBody>
                    <a:bodyPr/>
                    <a:lstStyle/>
                    <a:p>
                      <a:pPr algn="l">
                        <a:defRPr sz="1350">
                          <a:solidFill>
                            <a:srgbClr val="0F172A"/>
                          </a:solidFill>
                          <a:latin typeface="Calibri"/>
                        </a:defRPr>
                      </a:pPr>
                      <a:r>
                        <a:t>4. Large</a:t>
                      </a:r>
                    </a:p>
                  </a:txBody>
                  <a:tcPr anchor="ctr">
                    <a:solidFill>
                      <a:srgbClr val="F1F5F9"/>
                    </a:solidFill>
                  </a:tcPr>
                </a:tc>
                <a:tc>
                  <a:txBody>
                    <a:bodyPr/>
                    <a:lstStyle/>
                    <a:p>
                      <a:pPr algn="ctr">
                        <a:defRPr sz="1350">
                          <a:solidFill>
                            <a:srgbClr val="0F172A"/>
                          </a:solidFill>
                          <a:latin typeface="Calibri"/>
                        </a:defRPr>
                      </a:pPr>
                      <a:r>
                        <a:t>3.5M</a:t>
                      </a:r>
                    </a:p>
                  </a:txBody>
                  <a:tcPr anchor="ctr">
                    <a:solidFill>
                      <a:srgbClr val="F1F5F9"/>
                    </a:solidFill>
                  </a:tcPr>
                </a:tc>
                <a:tc>
                  <a:txBody>
                    <a:bodyPr/>
                    <a:lstStyle/>
                    <a:p>
                      <a:pPr algn="ctr">
                        <a:defRPr sz="1350">
                          <a:solidFill>
                            <a:srgbClr val="0F172A"/>
                          </a:solidFill>
                          <a:latin typeface="Calibri"/>
                        </a:defRPr>
                      </a:pPr>
                      <a:r>
                        <a:t>32</a:t>
                      </a:r>
                    </a:p>
                  </a:txBody>
                  <a:tcPr anchor="ctr">
                    <a:solidFill>
                      <a:srgbClr val="F1F5F9"/>
                    </a:solidFill>
                  </a:tcPr>
                </a:tc>
                <a:tc>
                  <a:txBody>
                    <a:bodyPr/>
                    <a:lstStyle/>
                    <a:p>
                      <a:pPr algn="ctr">
                        <a:defRPr sz="1350">
                          <a:solidFill>
                            <a:srgbClr val="0F172A"/>
                          </a:solidFill>
                          <a:latin typeface="Calibri"/>
                        </a:defRPr>
                      </a:pPr>
                      <a:r>
                        <a:t>64</a:t>
                      </a:r>
                    </a:p>
                  </a:txBody>
                  <a:tcPr anchor="ctr">
                    <a:solidFill>
                      <a:srgbClr val="F1F5F9"/>
                    </a:solidFill>
                  </a:tcPr>
                </a:tc>
                <a:tc>
                  <a:txBody>
                    <a:bodyPr/>
                    <a:lstStyle/>
                    <a:p>
                      <a:pPr algn="ctr">
                        <a:defRPr sz="1350">
                          <a:solidFill>
                            <a:srgbClr val="0F172A"/>
                          </a:solidFill>
                          <a:latin typeface="Calibri"/>
                        </a:defRPr>
                      </a:pPr>
                      <a:r>
                        <a:t>306,346 ms</a:t>
                      </a:r>
                    </a:p>
                  </a:txBody>
                  <a:tcPr anchor="ctr">
                    <a:solidFill>
                      <a:srgbClr val="F1F5F9"/>
                    </a:solidFill>
                  </a:tcPr>
                </a:tc>
                <a:tc>
                  <a:txBody>
                    <a:bodyPr/>
                    <a:lstStyle/>
                    <a:p>
                      <a:pPr algn="ctr">
                        <a:defRPr sz="1350" b="1">
                          <a:solidFill>
                            <a:srgbClr val="06B6D4"/>
                          </a:solidFill>
                          <a:latin typeface="Calibri"/>
                        </a:defRPr>
                      </a:pPr>
                      <a:r>
                        <a:t>21,833 ms</a:t>
                      </a:r>
                    </a:p>
                  </a:txBody>
                  <a:tcPr anchor="ctr">
                    <a:solidFill>
                      <a:srgbClr val="F1F5F9"/>
                    </a:solidFill>
                  </a:tcPr>
                </a:tc>
                <a:tc>
                  <a:txBody>
                    <a:bodyPr/>
                    <a:lstStyle/>
                    <a:p>
                      <a:pPr algn="ctr">
                        <a:defRPr sz="1350">
                          <a:solidFill>
                            <a:srgbClr val="0F172A"/>
                          </a:solidFill>
                          <a:latin typeface="Calibri"/>
                        </a:defRPr>
                      </a:pPr>
                      <a:r>
                        <a:t>77,633 ms</a:t>
                      </a:r>
                    </a:p>
                  </a:txBody>
                  <a:tcPr anchor="ctr">
                    <a:solidFill>
                      <a:srgbClr val="F1F5F9"/>
                    </a:solidFill>
                  </a:tcPr>
                </a:tc>
                <a:tc>
                  <a:txBody>
                    <a:bodyPr/>
                    <a:lstStyle/>
                    <a:p>
                      <a:pPr algn="ctr">
                        <a:defRPr sz="1350">
                          <a:solidFill>
                            <a:srgbClr val="0F172A"/>
                          </a:solidFill>
                          <a:latin typeface="Calibri"/>
                        </a:defRPr>
                      </a:pPr>
                      <a:r>
                        <a:t>160,434 ms</a:t>
                      </a:r>
                    </a:p>
                  </a:txBody>
                  <a:tcPr anchor="ctr">
                    <a:solidFill>
                      <a:srgbClr val="F1F5F9"/>
                    </a:solidFill>
                  </a:tcPr>
                </a:tc>
              </a:tr>
              <a:tr h="685800">
                <a:tc>
                  <a:txBody>
                    <a:bodyPr/>
                    <a:lstStyle/>
                    <a:p>
                      <a:pPr algn="l">
                        <a:defRPr sz="1350">
                          <a:solidFill>
                            <a:srgbClr val="0F172A"/>
                          </a:solidFill>
                          <a:latin typeface="Calibri"/>
                        </a:defRPr>
                      </a:pPr>
                      <a:r>
                        <a:t>5. Extreme</a:t>
                      </a:r>
                    </a:p>
                  </a:txBody>
                  <a:tcPr anchor="ctr">
                    <a:solidFill>
                      <a:srgbClr val="FFFFFF"/>
                    </a:solidFill>
                  </a:tcPr>
                </a:tc>
                <a:tc>
                  <a:txBody>
                    <a:bodyPr/>
                    <a:lstStyle/>
                    <a:p>
                      <a:pPr algn="ctr">
                        <a:defRPr sz="1350">
                          <a:solidFill>
                            <a:srgbClr val="0F172A"/>
                          </a:solidFill>
                          <a:latin typeface="Calibri"/>
                        </a:defRPr>
                      </a:pPr>
                      <a:r>
                        <a:t>3.5M</a:t>
                      </a:r>
                    </a:p>
                  </a:txBody>
                  <a:tcPr anchor="ctr">
                    <a:solidFill>
                      <a:srgbClr val="FFFFFF"/>
                    </a:solidFill>
                  </a:tcPr>
                </a:tc>
                <a:tc>
                  <a:txBody>
                    <a:bodyPr/>
                    <a:lstStyle/>
                    <a:p>
                      <a:pPr algn="ctr">
                        <a:defRPr sz="1350">
                          <a:solidFill>
                            <a:srgbClr val="0F172A"/>
                          </a:solidFill>
                          <a:latin typeface="Calibri"/>
                        </a:defRPr>
                      </a:pPr>
                      <a:r>
                        <a:t>32</a:t>
                      </a:r>
                    </a:p>
                  </a:txBody>
                  <a:tcPr anchor="ctr">
                    <a:solidFill>
                      <a:srgbClr val="FFFFFF"/>
                    </a:solidFill>
                  </a:tcPr>
                </a:tc>
                <a:tc>
                  <a:txBody>
                    <a:bodyPr/>
                    <a:lstStyle/>
                    <a:p>
                      <a:pPr algn="ctr">
                        <a:defRPr sz="1350">
                          <a:solidFill>
                            <a:srgbClr val="0F172A"/>
                          </a:solidFill>
                          <a:latin typeface="Calibri"/>
                        </a:defRPr>
                      </a:pPr>
                      <a:r>
                        <a:t>128</a:t>
                      </a:r>
                    </a:p>
                  </a:txBody>
                  <a:tcPr anchor="ctr">
                    <a:solidFill>
                      <a:srgbClr val="FFFFFF"/>
                    </a:solidFill>
                  </a:tcPr>
                </a:tc>
                <a:tc>
                  <a:txBody>
                    <a:bodyPr/>
                    <a:lstStyle/>
                    <a:p>
                      <a:pPr algn="ctr">
                        <a:defRPr sz="1350">
                          <a:solidFill>
                            <a:srgbClr val="0F172A"/>
                          </a:solidFill>
                          <a:latin typeface="Calibri"/>
                        </a:defRPr>
                      </a:pPr>
                      <a:r>
                        <a:t>613,309 ms</a:t>
                      </a:r>
                    </a:p>
                  </a:txBody>
                  <a:tcPr anchor="ctr">
                    <a:solidFill>
                      <a:srgbClr val="FFFFFF"/>
                    </a:solidFill>
                  </a:tcPr>
                </a:tc>
                <a:tc>
                  <a:txBody>
                    <a:bodyPr/>
                    <a:lstStyle/>
                    <a:p>
                      <a:pPr algn="ctr">
                        <a:defRPr sz="1350" b="1">
                          <a:solidFill>
                            <a:srgbClr val="06B6D4"/>
                          </a:solidFill>
                          <a:latin typeface="Calibri"/>
                        </a:defRPr>
                      </a:pPr>
                      <a:r>
                        <a:t>31,115 ms</a:t>
                      </a:r>
                    </a:p>
                  </a:txBody>
                  <a:tcPr anchor="ctr">
                    <a:solidFill>
                      <a:srgbClr val="FFFFFF"/>
                    </a:solidFill>
                  </a:tcPr>
                </a:tc>
                <a:tc>
                  <a:txBody>
                    <a:bodyPr/>
                    <a:lstStyle/>
                    <a:p>
                      <a:pPr algn="ctr">
                        <a:defRPr sz="1350">
                          <a:solidFill>
                            <a:srgbClr val="0F172A"/>
                          </a:solidFill>
                          <a:latin typeface="Calibri"/>
                        </a:defRPr>
                      </a:pPr>
                      <a:r>
                        <a:t>142,613 ms</a:t>
                      </a:r>
                    </a:p>
                  </a:txBody>
                  <a:tcPr anchor="ctr">
                    <a:solidFill>
                      <a:srgbClr val="FFFFFF"/>
                    </a:solidFill>
                  </a:tcPr>
                </a:tc>
                <a:tc>
                  <a:txBody>
                    <a:bodyPr/>
                    <a:lstStyle/>
                    <a:p>
                      <a:pPr algn="ctr">
                        <a:defRPr sz="1350">
                          <a:solidFill>
                            <a:srgbClr val="0F172A"/>
                          </a:solidFill>
                          <a:latin typeface="Calibri"/>
                        </a:defRPr>
                      </a:pPr>
                      <a:r>
                        <a:t>156,254 ms</a:t>
                      </a:r>
                    </a:p>
                  </a:txBody>
                  <a:tcPr anchor="ctr">
                    <a:solidFill>
                      <a:srgbClr val="FFFFFF"/>
                    </a:solidFill>
                  </a:tcPr>
                </a:tc>
              </a:tr>
            </a:tbl>
          </a:graphicData>
        </a:graphic>
      </p:graphicFrame>
      <p:sp>
        <p:nvSpPr>
          <p:cNvPr id="5" name="Rounded Rectangle 4"/>
          <p:cNvSpPr/>
          <p:nvPr/>
        </p:nvSpPr>
        <p:spPr>
          <a:xfrm>
            <a:off x="8412480" y="1645920"/>
            <a:ext cx="30175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200"/>
              </a:spcAft>
              <a:defRPr sz="1900" b="1">
                <a:solidFill>
                  <a:srgbClr val="1E293B"/>
                </a:solidFill>
                <a:latin typeface="Trebuchet MS"/>
              </a:defRPr>
            </a:pPr>
            <a:r>
              <a:t>Key Observations</a:t>
            </a:r>
          </a:p>
          <a:p>
            <a:pPr>
              <a:spcAft>
                <a:spcPts val="1000"/>
              </a:spcAft>
              <a:defRPr sz="1350">
                <a:solidFill>
                  <a:srgbClr val="0F172A"/>
                </a:solidFill>
                <a:latin typeface="Calibri"/>
              </a:defRPr>
            </a:pPr>
            <a:r>
              <a:t>• scikit-learn is the speed leader across all benchmarks (up to 26× speedup). Vectorized GEMM (BLAS) routines avoid coordinate-level branching.</a:t>
            </a:r>
          </a:p>
          <a:p>
            <a:pPr>
              <a:spcAft>
                <a:spcPts val="1000"/>
              </a:spcAft>
              <a:defRPr sz="1350">
                <a:solidFill>
                  <a:srgbClr val="0F172A"/>
                </a:solidFill>
                <a:latin typeface="Calibri"/>
              </a:defRPr>
            </a:pPr>
            <a:r>
              <a:t>• HIP/GPU scales efficiently on massive workloads, outperforming MPI once N exceeds 1.4M points.</a:t>
            </a:r>
          </a:p>
          <a:p>
            <a:pPr>
              <a:spcAft>
                <a:spcPts val="1000"/>
              </a:spcAft>
              <a:defRPr sz="1350">
                <a:solidFill>
                  <a:srgbClr val="0F172A"/>
                </a:solidFill>
                <a:latin typeface="Calibri"/>
              </a:defRPr>
            </a:pPr>
            <a:r>
              <a:t>• MPI hits scaling limits as K increases to 128, due to MPI_Allreduce communication overhead.</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Synthetic Datasets: Execution Time &amp; Speedup Curves</a:t>
            </a:r>
          </a:p>
        </p:txBody>
      </p:sp>
      <p:graphicFrame>
        <p:nvGraphicFramePr>
          <p:cNvPr id="4" name="Chart 3"/>
          <p:cNvGraphicFramePr>
            <a:graphicFrameLocks noGrp="1"/>
          </p:cNvGraphicFramePr>
          <p:nvPr/>
        </p:nvGraphicFramePr>
        <p:xfrm>
          <a:off x="457200" y="1645920"/>
          <a:ext cx="5303520" cy="41148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645920"/>
          <a:ext cx="5303520" cy="4114800"/>
        </p:xfrm>
        <a:graphic>
          <a:graphicData uri="http://schemas.openxmlformats.org/drawingml/2006/chart">
            <c:chart xmlns:c="http://schemas.openxmlformats.org/drawingml/2006/chart" r:id="rId3"/>
          </a:graphicData>
        </a:graphic>
      </p:graphicFrame>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Performance Comparison: Real-World Datasets</a:t>
            </a:r>
          </a:p>
        </p:txBody>
      </p:sp>
      <p:graphicFrame>
        <p:nvGraphicFramePr>
          <p:cNvPr id="4" name="Table 3"/>
          <p:cNvGraphicFramePr>
            <a:graphicFrameLocks noGrp="1"/>
          </p:cNvGraphicFramePr>
          <p:nvPr/>
        </p:nvGraphicFramePr>
        <p:xfrm>
          <a:off x="731520" y="1645920"/>
          <a:ext cx="7498080" cy="4114800"/>
        </p:xfrm>
        <a:graphic>
          <a:graphicData uri="http://schemas.openxmlformats.org/drawingml/2006/table">
            <a:tbl>
              <a:tblPr firstRow="1" bandRow="1">
                <a:tableStyleId>{5C22544A-7EE6-4342-B048-85BDC9FD1C3A}</a:tableStyleId>
              </a:tblPr>
              <a:tblGrid>
                <a:gridCol w="1645920"/>
                <a:gridCol w="640080"/>
                <a:gridCol w="457200"/>
                <a:gridCol w="457200"/>
                <a:gridCol w="1097280"/>
                <a:gridCol w="1005840"/>
                <a:gridCol w="1097280"/>
                <a:gridCol w="1097280"/>
              </a:tblGrid>
              <a:tr h="685800">
                <a:tc>
                  <a:txBody>
                    <a:bodyPr/>
                    <a:lstStyle/>
                    <a:p>
                      <a:pPr algn="ctr">
                        <a:defRPr sz="1350" b="1">
                          <a:solidFill>
                            <a:srgbClr val="F1F5F9"/>
                          </a:solidFill>
                          <a:latin typeface="Trebuchet MS"/>
                        </a:defRPr>
                      </a:pPr>
                      <a:r>
                        <a:t>Dataset Level</a:t>
                      </a:r>
                    </a:p>
                  </a:txBody>
                  <a:tcPr anchor="ctr">
                    <a:solidFill>
                      <a:srgbClr val="1E293B"/>
                    </a:solidFill>
                  </a:tcPr>
                </a:tc>
                <a:tc>
                  <a:txBody>
                    <a:bodyPr/>
                    <a:lstStyle/>
                    <a:p>
                      <a:pPr algn="ctr">
                        <a:defRPr sz="1350" b="1">
                          <a:solidFill>
                            <a:srgbClr val="F1F5F9"/>
                          </a:solidFill>
                          <a:latin typeface="Trebuchet MS"/>
                        </a:defRPr>
                      </a:pPr>
                      <a:r>
                        <a:t>N (Pts)</a:t>
                      </a:r>
                    </a:p>
                  </a:txBody>
                  <a:tcPr anchor="ctr">
                    <a:solidFill>
                      <a:srgbClr val="1E293B"/>
                    </a:solidFill>
                  </a:tcPr>
                </a:tc>
                <a:tc>
                  <a:txBody>
                    <a:bodyPr/>
                    <a:lstStyle/>
                    <a:p>
                      <a:pPr algn="ctr">
                        <a:defRPr sz="1350" b="1">
                          <a:solidFill>
                            <a:srgbClr val="F1F5F9"/>
                          </a:solidFill>
                          <a:latin typeface="Trebuchet MS"/>
                        </a:defRPr>
                      </a:pPr>
                      <a:r>
                        <a:t>D</a:t>
                      </a:r>
                    </a:p>
                  </a:txBody>
                  <a:tcPr anchor="ctr">
                    <a:solidFill>
                      <a:srgbClr val="1E293B"/>
                    </a:solidFill>
                  </a:tcPr>
                </a:tc>
                <a:tc>
                  <a:txBody>
                    <a:bodyPr/>
                    <a:lstStyle/>
                    <a:p>
                      <a:pPr algn="ctr">
                        <a:defRPr sz="1350" b="1">
                          <a:solidFill>
                            <a:srgbClr val="F1F5F9"/>
                          </a:solidFill>
                          <a:latin typeface="Trebuchet MS"/>
                        </a:defRPr>
                      </a:pPr>
                      <a:r>
                        <a:t>K</a:t>
                      </a:r>
                    </a:p>
                  </a:txBody>
                  <a:tcPr anchor="ctr">
                    <a:solidFill>
                      <a:srgbClr val="1E293B"/>
                    </a:solidFill>
                  </a:tcPr>
                </a:tc>
                <a:tc>
                  <a:txBody>
                    <a:bodyPr/>
                    <a:lstStyle/>
                    <a:p>
                      <a:pPr algn="ctr">
                        <a:defRPr sz="1350" b="1">
                          <a:solidFill>
                            <a:srgbClr val="F1F5F9"/>
                          </a:solidFill>
                          <a:latin typeface="Trebuchet MS"/>
                        </a:defRPr>
                      </a:pPr>
                      <a:r>
                        <a:t>Seq C++</a:t>
                      </a:r>
                    </a:p>
                  </a:txBody>
                  <a:tcPr anchor="ctr">
                    <a:solidFill>
                      <a:srgbClr val="1E293B"/>
                    </a:solidFill>
                  </a:tcPr>
                </a:tc>
                <a:tc>
                  <a:txBody>
                    <a:bodyPr/>
                    <a:lstStyle/>
                    <a:p>
                      <a:pPr algn="ctr">
                        <a:defRPr sz="1350" b="1">
                          <a:solidFill>
                            <a:srgbClr val="F1F5F9"/>
                          </a:solidFill>
                          <a:latin typeface="Trebuchet MS"/>
                        </a:defRPr>
                      </a:pPr>
                      <a:r>
                        <a:t>scikit-learn</a:t>
                      </a:r>
                    </a:p>
                  </a:txBody>
                  <a:tcPr anchor="ctr">
                    <a:solidFill>
                      <a:srgbClr val="1E293B"/>
                    </a:solidFill>
                  </a:tcPr>
                </a:tc>
                <a:tc>
                  <a:txBody>
                    <a:bodyPr/>
                    <a:lstStyle/>
                    <a:p>
                      <a:pPr algn="ctr">
                        <a:defRPr sz="1350" b="1">
                          <a:solidFill>
                            <a:srgbClr val="F1F5F9"/>
                          </a:solidFill>
                          <a:latin typeface="Trebuchet MS"/>
                        </a:defRPr>
                      </a:pPr>
                      <a:r>
                        <a:t>HIP/GPU (AMD)</a:t>
                      </a:r>
                    </a:p>
                  </a:txBody>
                  <a:tcPr anchor="ctr">
                    <a:solidFill>
                      <a:srgbClr val="1E293B"/>
                    </a:solidFill>
                  </a:tcPr>
                </a:tc>
                <a:tc>
                  <a:txBody>
                    <a:bodyPr/>
                    <a:lstStyle/>
                    <a:p>
                      <a:pPr algn="ctr">
                        <a:defRPr sz="1350" b="1">
                          <a:solidFill>
                            <a:srgbClr val="F1F5F9"/>
                          </a:solidFill>
                          <a:latin typeface="Trebuchet MS"/>
                        </a:defRPr>
                      </a:pPr>
                      <a:r>
                        <a:t>MPI (4 P)</a:t>
                      </a:r>
                    </a:p>
                  </a:txBody>
                  <a:tcPr anchor="ctr">
                    <a:solidFill>
                      <a:srgbClr val="1E293B"/>
                    </a:solidFill>
                  </a:tcPr>
                </a:tc>
              </a:tr>
              <a:tr h="685800">
                <a:tc>
                  <a:txBody>
                    <a:bodyPr/>
                    <a:lstStyle/>
                    <a:p>
                      <a:pPr algn="l">
                        <a:defRPr sz="1350">
                          <a:solidFill>
                            <a:srgbClr val="0F172A"/>
                          </a:solidFill>
                          <a:latin typeface="Calibri"/>
                        </a:defRPr>
                      </a:pPr>
                      <a:r>
                        <a:t>Mall Customers</a:t>
                      </a:r>
                    </a:p>
                  </a:txBody>
                  <a:tcPr anchor="ctr">
                    <a:solidFill>
                      <a:srgbClr val="FFFFFF"/>
                    </a:solidFill>
                  </a:tcPr>
                </a:tc>
                <a:tc>
                  <a:txBody>
                    <a:bodyPr/>
                    <a:lstStyle/>
                    <a:p>
                      <a:pPr algn="ctr">
                        <a:defRPr sz="1350">
                          <a:solidFill>
                            <a:srgbClr val="0F172A"/>
                          </a:solidFill>
                          <a:latin typeface="Calibri"/>
                        </a:defRPr>
                      </a:pPr>
                      <a:r>
                        <a:t>200</a:t>
                      </a:r>
                    </a:p>
                  </a:txBody>
                  <a:tcPr anchor="ctr">
                    <a:solidFill>
                      <a:srgbClr val="FFFFFF"/>
                    </a:solidFill>
                  </a:tcPr>
                </a:tc>
                <a:tc>
                  <a:txBody>
                    <a:bodyPr/>
                    <a:lstStyle/>
                    <a:p>
                      <a:pPr algn="ctr">
                        <a:defRPr sz="1350">
                          <a:solidFill>
                            <a:srgbClr val="0F172A"/>
                          </a:solidFill>
                          <a:latin typeface="Calibri"/>
                        </a:defRPr>
                      </a:pPr>
                      <a:r>
                        <a:t>3</a:t>
                      </a:r>
                    </a:p>
                  </a:txBody>
                  <a:tcPr anchor="ctr">
                    <a:solidFill>
                      <a:srgbClr val="FFFFFF"/>
                    </a:solidFill>
                  </a:tcPr>
                </a:tc>
                <a:tc>
                  <a:txBody>
                    <a:bodyPr/>
                    <a:lstStyle/>
                    <a:p>
                      <a:pPr algn="ctr">
                        <a:defRPr sz="1350">
                          <a:solidFill>
                            <a:srgbClr val="0F172A"/>
                          </a:solidFill>
                          <a:latin typeface="Calibri"/>
                        </a:defRPr>
                      </a:pPr>
                      <a:r>
                        <a:t>5</a:t>
                      </a:r>
                    </a:p>
                  </a:txBody>
                  <a:tcPr anchor="ctr">
                    <a:solidFill>
                      <a:srgbClr val="FFFFFF"/>
                    </a:solidFill>
                  </a:tcPr>
                </a:tc>
                <a:tc>
                  <a:txBody>
                    <a:bodyPr/>
                    <a:lstStyle/>
                    <a:p>
                      <a:pPr algn="ctr">
                        <a:defRPr sz="1350">
                          <a:solidFill>
                            <a:srgbClr val="0F172A"/>
                          </a:solidFill>
                          <a:latin typeface="Calibri"/>
                        </a:defRPr>
                      </a:pPr>
                      <a:r>
                        <a:t>0.04 ms</a:t>
                      </a:r>
                    </a:p>
                  </a:txBody>
                  <a:tcPr anchor="ctr">
                    <a:solidFill>
                      <a:srgbClr val="FFFFFF"/>
                    </a:solidFill>
                  </a:tcPr>
                </a:tc>
                <a:tc>
                  <a:txBody>
                    <a:bodyPr/>
                    <a:lstStyle/>
                    <a:p>
                      <a:pPr algn="ctr">
                        <a:defRPr sz="1350" b="1">
                          <a:solidFill>
                            <a:srgbClr val="06B6D4"/>
                          </a:solidFill>
                          <a:latin typeface="Calibri"/>
                        </a:defRPr>
                      </a:pPr>
                      <a:r>
                        <a:t>21.86 ms</a:t>
                      </a:r>
                    </a:p>
                  </a:txBody>
                  <a:tcPr anchor="ctr">
                    <a:solidFill>
                      <a:srgbClr val="FFFFFF"/>
                    </a:solidFill>
                  </a:tcPr>
                </a:tc>
                <a:tc>
                  <a:txBody>
                    <a:bodyPr/>
                    <a:lstStyle/>
                    <a:p>
                      <a:pPr algn="ctr">
                        <a:defRPr sz="1350">
                          <a:solidFill>
                            <a:srgbClr val="0F172A"/>
                          </a:solidFill>
                          <a:latin typeface="Calibri"/>
                        </a:defRPr>
                      </a:pPr>
                      <a:r>
                        <a:t>1.77 ms</a:t>
                      </a:r>
                    </a:p>
                  </a:txBody>
                  <a:tcPr anchor="ctr">
                    <a:solidFill>
                      <a:srgbClr val="FFFFFF"/>
                    </a:solidFill>
                  </a:tcPr>
                </a:tc>
                <a:tc>
                  <a:txBody>
                    <a:bodyPr/>
                    <a:lstStyle/>
                    <a:p>
                      <a:pPr algn="ctr">
                        <a:defRPr sz="1350">
                          <a:solidFill>
                            <a:srgbClr val="0F172A"/>
                          </a:solidFill>
                          <a:latin typeface="Calibri"/>
                        </a:defRPr>
                      </a:pPr>
                      <a:r>
                        <a:t>0.14 ms</a:t>
                      </a:r>
                    </a:p>
                  </a:txBody>
                  <a:tcPr anchor="ctr">
                    <a:solidFill>
                      <a:srgbClr val="FFFFFF"/>
                    </a:solidFill>
                  </a:tcPr>
                </a:tc>
              </a:tr>
              <a:tr h="685800">
                <a:tc>
                  <a:txBody>
                    <a:bodyPr/>
                    <a:lstStyle/>
                    <a:p>
                      <a:pPr algn="l">
                        <a:defRPr sz="1350">
                          <a:solidFill>
                            <a:srgbClr val="0F172A"/>
                          </a:solidFill>
                          <a:latin typeface="Calibri"/>
                        </a:defRPr>
                      </a:pPr>
                      <a:r>
                        <a:t>Covertype K=7</a:t>
                      </a:r>
                    </a:p>
                  </a:txBody>
                  <a:tcPr anchor="ctr">
                    <a:solidFill>
                      <a:srgbClr val="F1F5F9"/>
                    </a:solidFill>
                  </a:tcPr>
                </a:tc>
                <a:tc>
                  <a:txBody>
                    <a:bodyPr/>
                    <a:lstStyle/>
                    <a:p>
                      <a:pPr algn="ctr">
                        <a:defRPr sz="1350">
                          <a:solidFill>
                            <a:srgbClr val="0F172A"/>
                          </a:solidFill>
                          <a:latin typeface="Calibri"/>
                        </a:defRPr>
                      </a:pPr>
                      <a:r>
                        <a:t>581K</a:t>
                      </a:r>
                    </a:p>
                  </a:txBody>
                  <a:tcPr anchor="ctr">
                    <a:solidFill>
                      <a:srgbClr val="F1F5F9"/>
                    </a:solidFill>
                  </a:tcPr>
                </a:tc>
                <a:tc>
                  <a:txBody>
                    <a:bodyPr/>
                    <a:lstStyle/>
                    <a:p>
                      <a:pPr algn="ctr">
                        <a:defRPr sz="1350">
                          <a:solidFill>
                            <a:srgbClr val="0F172A"/>
                          </a:solidFill>
                          <a:latin typeface="Calibri"/>
                        </a:defRPr>
                      </a:pPr>
                      <a:r>
                        <a:t>54</a:t>
                      </a:r>
                    </a:p>
                  </a:txBody>
                  <a:tcPr anchor="ctr">
                    <a:solidFill>
                      <a:srgbClr val="F1F5F9"/>
                    </a:solidFill>
                  </a:tcPr>
                </a:tc>
                <a:tc>
                  <a:txBody>
                    <a:bodyPr/>
                    <a:lstStyle/>
                    <a:p>
                      <a:pPr algn="ctr">
                        <a:defRPr sz="1350">
                          <a:solidFill>
                            <a:srgbClr val="0F172A"/>
                          </a:solidFill>
                          <a:latin typeface="Calibri"/>
                        </a:defRPr>
                      </a:pPr>
                      <a:r>
                        <a:t>7</a:t>
                      </a:r>
                    </a:p>
                  </a:txBody>
                  <a:tcPr anchor="ctr">
                    <a:solidFill>
                      <a:srgbClr val="F1F5F9"/>
                    </a:solidFill>
                  </a:tcPr>
                </a:tc>
                <a:tc>
                  <a:txBody>
                    <a:bodyPr/>
                    <a:lstStyle/>
                    <a:p>
                      <a:pPr algn="ctr">
                        <a:defRPr sz="1350">
                          <a:solidFill>
                            <a:srgbClr val="0F172A"/>
                          </a:solidFill>
                          <a:latin typeface="Calibri"/>
                        </a:defRPr>
                      </a:pPr>
                      <a:r>
                        <a:t>3,738 ms</a:t>
                      </a:r>
                    </a:p>
                  </a:txBody>
                  <a:tcPr anchor="ctr">
                    <a:solidFill>
                      <a:srgbClr val="F1F5F9"/>
                    </a:solidFill>
                  </a:tcPr>
                </a:tc>
                <a:tc>
                  <a:txBody>
                    <a:bodyPr/>
                    <a:lstStyle/>
                    <a:p>
                      <a:pPr algn="ctr">
                        <a:defRPr sz="1350" b="1">
                          <a:solidFill>
                            <a:srgbClr val="06B6D4"/>
                          </a:solidFill>
                          <a:latin typeface="Calibri"/>
                        </a:defRPr>
                      </a:pPr>
                      <a:r>
                        <a:t>394 ms</a:t>
                      </a:r>
                    </a:p>
                  </a:txBody>
                  <a:tcPr anchor="ctr">
                    <a:solidFill>
                      <a:srgbClr val="F1F5F9"/>
                    </a:solidFill>
                  </a:tcPr>
                </a:tc>
                <a:tc>
                  <a:txBody>
                    <a:bodyPr/>
                    <a:lstStyle/>
                    <a:p>
                      <a:pPr algn="ctr">
                        <a:defRPr sz="1350">
                          <a:solidFill>
                            <a:srgbClr val="0F172A"/>
                          </a:solidFill>
                          <a:latin typeface="Calibri"/>
                        </a:defRPr>
                      </a:pPr>
                      <a:r>
                        <a:t>1,922 ms</a:t>
                      </a:r>
                    </a:p>
                  </a:txBody>
                  <a:tcPr anchor="ctr">
                    <a:solidFill>
                      <a:srgbClr val="F1F5F9"/>
                    </a:solidFill>
                  </a:tcPr>
                </a:tc>
                <a:tc>
                  <a:txBody>
                    <a:bodyPr/>
                    <a:lstStyle/>
                    <a:p>
                      <a:pPr algn="ctr">
                        <a:defRPr sz="1350">
                          <a:solidFill>
                            <a:srgbClr val="0F172A"/>
                          </a:solidFill>
                          <a:latin typeface="Calibri"/>
                        </a:defRPr>
                      </a:pPr>
                      <a:r>
                        <a:t>1,251 ms</a:t>
                      </a:r>
                    </a:p>
                  </a:txBody>
                  <a:tcPr anchor="ctr">
                    <a:solidFill>
                      <a:srgbClr val="F1F5F9"/>
                    </a:solidFill>
                  </a:tcPr>
                </a:tc>
              </a:tr>
              <a:tr h="685800">
                <a:tc>
                  <a:txBody>
                    <a:bodyPr/>
                    <a:lstStyle/>
                    <a:p>
                      <a:pPr algn="l">
                        <a:defRPr sz="1350">
                          <a:solidFill>
                            <a:srgbClr val="0F172A"/>
                          </a:solidFill>
                          <a:latin typeface="Calibri"/>
                        </a:defRPr>
                      </a:pPr>
                      <a:r>
                        <a:t>Covertype K=50</a:t>
                      </a:r>
                    </a:p>
                  </a:txBody>
                  <a:tcPr anchor="ctr">
                    <a:solidFill>
                      <a:srgbClr val="FFFFFF"/>
                    </a:solidFill>
                  </a:tcPr>
                </a:tc>
                <a:tc>
                  <a:txBody>
                    <a:bodyPr/>
                    <a:lstStyle/>
                    <a:p>
                      <a:pPr algn="ctr">
                        <a:defRPr sz="1350">
                          <a:solidFill>
                            <a:srgbClr val="0F172A"/>
                          </a:solidFill>
                          <a:latin typeface="Calibri"/>
                        </a:defRPr>
                      </a:pPr>
                      <a:r>
                        <a:t>581K</a:t>
                      </a:r>
                    </a:p>
                  </a:txBody>
                  <a:tcPr anchor="ctr">
                    <a:solidFill>
                      <a:srgbClr val="FFFFFF"/>
                    </a:solidFill>
                  </a:tcPr>
                </a:tc>
                <a:tc>
                  <a:txBody>
                    <a:bodyPr/>
                    <a:lstStyle/>
                    <a:p>
                      <a:pPr algn="ctr">
                        <a:defRPr sz="1350">
                          <a:solidFill>
                            <a:srgbClr val="0F172A"/>
                          </a:solidFill>
                          <a:latin typeface="Calibri"/>
                        </a:defRPr>
                      </a:pPr>
                      <a:r>
                        <a:t>54</a:t>
                      </a:r>
                    </a:p>
                  </a:txBody>
                  <a:tcPr anchor="ctr">
                    <a:solidFill>
                      <a:srgbClr val="FFFFFF"/>
                    </a:solidFill>
                  </a:tcPr>
                </a:tc>
                <a:tc>
                  <a:txBody>
                    <a:bodyPr/>
                    <a:lstStyle/>
                    <a:p>
                      <a:pPr algn="ctr">
                        <a:defRPr sz="1350">
                          <a:solidFill>
                            <a:srgbClr val="0F172A"/>
                          </a:solidFill>
                          <a:latin typeface="Calibri"/>
                        </a:defRPr>
                      </a:pPr>
                      <a:r>
                        <a:t>50</a:t>
                      </a:r>
                    </a:p>
                  </a:txBody>
                  <a:tcPr anchor="ctr">
                    <a:solidFill>
                      <a:srgbClr val="FFFFFF"/>
                    </a:solidFill>
                  </a:tcPr>
                </a:tc>
                <a:tc>
                  <a:txBody>
                    <a:bodyPr/>
                    <a:lstStyle/>
                    <a:p>
                      <a:pPr algn="ctr">
                        <a:defRPr sz="1350">
                          <a:solidFill>
                            <a:srgbClr val="0F172A"/>
                          </a:solidFill>
                          <a:latin typeface="Calibri"/>
                        </a:defRPr>
                      </a:pPr>
                      <a:r>
                        <a:t>81,518 ms</a:t>
                      </a:r>
                    </a:p>
                  </a:txBody>
                  <a:tcPr anchor="ctr">
                    <a:solidFill>
                      <a:srgbClr val="FFFFFF"/>
                    </a:solidFill>
                  </a:tcPr>
                </a:tc>
                <a:tc>
                  <a:txBody>
                    <a:bodyPr/>
                    <a:lstStyle/>
                    <a:p>
                      <a:pPr algn="ctr">
                        <a:defRPr sz="1350" b="1">
                          <a:solidFill>
                            <a:srgbClr val="06B6D4"/>
                          </a:solidFill>
                          <a:latin typeface="Calibri"/>
                        </a:defRPr>
                      </a:pPr>
                      <a:r>
                        <a:t>927 ms</a:t>
                      </a:r>
                    </a:p>
                  </a:txBody>
                  <a:tcPr anchor="ctr">
                    <a:solidFill>
                      <a:srgbClr val="FFFFFF"/>
                    </a:solidFill>
                  </a:tcPr>
                </a:tc>
                <a:tc>
                  <a:txBody>
                    <a:bodyPr/>
                    <a:lstStyle/>
                    <a:p>
                      <a:pPr algn="ctr">
                        <a:defRPr sz="1350">
                          <a:solidFill>
                            <a:srgbClr val="0F172A"/>
                          </a:solidFill>
                          <a:latin typeface="Calibri"/>
                        </a:defRPr>
                      </a:pPr>
                      <a:r>
                        <a:t>28,308 ms</a:t>
                      </a:r>
                    </a:p>
                  </a:txBody>
                  <a:tcPr anchor="ctr">
                    <a:solidFill>
                      <a:srgbClr val="FFFFFF"/>
                    </a:solidFill>
                  </a:tcPr>
                </a:tc>
                <a:tc>
                  <a:txBody>
                    <a:bodyPr/>
                    <a:lstStyle/>
                    <a:p>
                      <a:pPr algn="ctr">
                        <a:defRPr sz="1350">
                          <a:solidFill>
                            <a:srgbClr val="0F172A"/>
                          </a:solidFill>
                          <a:latin typeface="Calibri"/>
                        </a:defRPr>
                      </a:pPr>
                      <a:r>
                        <a:t>20,905 ms</a:t>
                      </a:r>
                    </a:p>
                  </a:txBody>
                  <a:tcPr anchor="ctr">
                    <a:solidFill>
                      <a:srgbClr val="FFFFFF"/>
                    </a:solidFill>
                  </a:tcPr>
                </a:tc>
              </a:tr>
              <a:tr h="685800">
                <a:tc>
                  <a:txBody>
                    <a:bodyPr/>
                    <a:lstStyle/>
                    <a:p>
                      <a:pPr algn="l">
                        <a:defRPr sz="1350">
                          <a:solidFill>
                            <a:srgbClr val="0F172A"/>
                          </a:solidFill>
                          <a:latin typeface="Calibri"/>
                        </a:defRPr>
                      </a:pPr>
                      <a:r>
                        <a:t>KDD Cup 10%</a:t>
                      </a:r>
                    </a:p>
                  </a:txBody>
                  <a:tcPr anchor="ctr">
                    <a:solidFill>
                      <a:srgbClr val="F1F5F9"/>
                    </a:solidFill>
                  </a:tcPr>
                </a:tc>
                <a:tc>
                  <a:txBody>
                    <a:bodyPr/>
                    <a:lstStyle/>
                    <a:p>
                      <a:pPr algn="ctr">
                        <a:defRPr sz="1350">
                          <a:solidFill>
                            <a:srgbClr val="0F172A"/>
                          </a:solidFill>
                          <a:latin typeface="Calibri"/>
                        </a:defRPr>
                      </a:pPr>
                      <a:r>
                        <a:t>494K</a:t>
                      </a:r>
                    </a:p>
                  </a:txBody>
                  <a:tcPr anchor="ctr">
                    <a:solidFill>
                      <a:srgbClr val="F1F5F9"/>
                    </a:solidFill>
                  </a:tcPr>
                </a:tc>
                <a:tc>
                  <a:txBody>
                    <a:bodyPr/>
                    <a:lstStyle/>
                    <a:p>
                      <a:pPr algn="ctr">
                        <a:defRPr sz="1350">
                          <a:solidFill>
                            <a:srgbClr val="0F172A"/>
                          </a:solidFill>
                          <a:latin typeface="Calibri"/>
                        </a:defRPr>
                      </a:pPr>
                      <a:r>
                        <a:t>38</a:t>
                      </a:r>
                    </a:p>
                  </a:txBody>
                  <a:tcPr anchor="ctr">
                    <a:solidFill>
                      <a:srgbClr val="F1F5F9"/>
                    </a:solidFill>
                  </a:tcPr>
                </a:tc>
                <a:tc>
                  <a:txBody>
                    <a:bodyPr/>
                    <a:lstStyle/>
                    <a:p>
                      <a:pPr algn="ctr">
                        <a:defRPr sz="1350">
                          <a:solidFill>
                            <a:srgbClr val="0F172A"/>
                          </a:solidFill>
                          <a:latin typeface="Calibri"/>
                        </a:defRPr>
                      </a:pPr>
                      <a:r>
                        <a:t>23</a:t>
                      </a:r>
                    </a:p>
                  </a:txBody>
                  <a:tcPr anchor="ctr">
                    <a:solidFill>
                      <a:srgbClr val="F1F5F9"/>
                    </a:solidFill>
                  </a:tcPr>
                </a:tc>
                <a:tc>
                  <a:txBody>
                    <a:bodyPr/>
                    <a:lstStyle/>
                    <a:p>
                      <a:pPr algn="ctr">
                        <a:defRPr sz="1350">
                          <a:solidFill>
                            <a:srgbClr val="0F172A"/>
                          </a:solidFill>
                          <a:latin typeface="Calibri"/>
                        </a:defRPr>
                      </a:pPr>
                      <a:r>
                        <a:t>8,182 ms</a:t>
                      </a:r>
                    </a:p>
                  </a:txBody>
                  <a:tcPr anchor="ctr">
                    <a:solidFill>
                      <a:srgbClr val="F1F5F9"/>
                    </a:solidFill>
                  </a:tcPr>
                </a:tc>
                <a:tc>
                  <a:txBody>
                    <a:bodyPr/>
                    <a:lstStyle/>
                    <a:p>
                      <a:pPr algn="ctr">
                        <a:defRPr sz="1350" b="1">
                          <a:solidFill>
                            <a:srgbClr val="06B6D4"/>
                          </a:solidFill>
                          <a:latin typeface="Calibri"/>
                        </a:defRPr>
                      </a:pPr>
                      <a:r>
                        <a:t>417 ms</a:t>
                      </a:r>
                    </a:p>
                  </a:txBody>
                  <a:tcPr anchor="ctr">
                    <a:solidFill>
                      <a:srgbClr val="F1F5F9"/>
                    </a:solidFill>
                  </a:tcPr>
                </a:tc>
                <a:tc>
                  <a:txBody>
                    <a:bodyPr/>
                    <a:lstStyle/>
                    <a:p>
                      <a:pPr algn="ctr">
                        <a:defRPr sz="1350">
                          <a:solidFill>
                            <a:srgbClr val="0F172A"/>
                          </a:solidFill>
                          <a:latin typeface="Calibri"/>
                        </a:defRPr>
                      </a:pPr>
                      <a:r>
                        <a:t>6,071 ms</a:t>
                      </a:r>
                    </a:p>
                  </a:txBody>
                  <a:tcPr anchor="ctr">
                    <a:solidFill>
                      <a:srgbClr val="F1F5F9"/>
                    </a:solidFill>
                  </a:tcPr>
                </a:tc>
                <a:tc>
                  <a:txBody>
                    <a:bodyPr/>
                    <a:lstStyle/>
                    <a:p>
                      <a:pPr algn="ctr">
                        <a:defRPr sz="1350">
                          <a:solidFill>
                            <a:srgbClr val="0F172A"/>
                          </a:solidFill>
                          <a:latin typeface="Calibri"/>
                        </a:defRPr>
                      </a:pPr>
                      <a:r>
                        <a:t>3,674 ms</a:t>
                      </a:r>
                    </a:p>
                  </a:txBody>
                  <a:tcPr anchor="ctr">
                    <a:solidFill>
                      <a:srgbClr val="F1F5F9"/>
                    </a:solidFill>
                  </a:tcPr>
                </a:tc>
              </a:tr>
              <a:tr h="685800">
                <a:tc>
                  <a:txBody>
                    <a:bodyPr/>
                    <a:lstStyle/>
                    <a:p>
                      <a:pPr algn="l">
                        <a:defRPr sz="1350">
                          <a:solidFill>
                            <a:srgbClr val="0F172A"/>
                          </a:solidFill>
                          <a:latin typeface="Calibri"/>
                        </a:defRPr>
                      </a:pPr>
                      <a:r>
                        <a:t>KDD Cup Full</a:t>
                      </a:r>
                    </a:p>
                  </a:txBody>
                  <a:tcPr anchor="ctr">
                    <a:solidFill>
                      <a:srgbClr val="FFFFFF"/>
                    </a:solidFill>
                  </a:tcPr>
                </a:tc>
                <a:tc>
                  <a:txBody>
                    <a:bodyPr/>
                    <a:lstStyle/>
                    <a:p>
                      <a:pPr algn="ctr">
                        <a:defRPr sz="1350">
                          <a:solidFill>
                            <a:srgbClr val="0F172A"/>
                          </a:solidFill>
                          <a:latin typeface="Calibri"/>
                        </a:defRPr>
                      </a:pPr>
                      <a:r>
                        <a:t>4.89M</a:t>
                      </a:r>
                    </a:p>
                  </a:txBody>
                  <a:tcPr anchor="ctr">
                    <a:solidFill>
                      <a:srgbClr val="FFFFFF"/>
                    </a:solidFill>
                  </a:tcPr>
                </a:tc>
                <a:tc>
                  <a:txBody>
                    <a:bodyPr/>
                    <a:lstStyle/>
                    <a:p>
                      <a:pPr algn="ctr">
                        <a:defRPr sz="1350">
                          <a:solidFill>
                            <a:srgbClr val="0F172A"/>
                          </a:solidFill>
                          <a:latin typeface="Calibri"/>
                        </a:defRPr>
                      </a:pPr>
                      <a:r>
                        <a:t>38</a:t>
                      </a:r>
                    </a:p>
                  </a:txBody>
                  <a:tcPr anchor="ctr">
                    <a:solidFill>
                      <a:srgbClr val="FFFFFF"/>
                    </a:solidFill>
                  </a:tcPr>
                </a:tc>
                <a:tc>
                  <a:txBody>
                    <a:bodyPr/>
                    <a:lstStyle/>
                    <a:p>
                      <a:pPr algn="ctr">
                        <a:defRPr sz="1350">
                          <a:solidFill>
                            <a:srgbClr val="0F172A"/>
                          </a:solidFill>
                          <a:latin typeface="Calibri"/>
                        </a:defRPr>
                      </a:pPr>
                      <a:r>
                        <a:t>23</a:t>
                      </a:r>
                    </a:p>
                  </a:txBody>
                  <a:tcPr anchor="ctr">
                    <a:solidFill>
                      <a:srgbClr val="FFFFFF"/>
                    </a:solidFill>
                  </a:tcPr>
                </a:tc>
                <a:tc>
                  <a:txBody>
                    <a:bodyPr/>
                    <a:lstStyle/>
                    <a:p>
                      <a:pPr algn="ctr">
                        <a:defRPr sz="1350">
                          <a:solidFill>
                            <a:srgbClr val="0F172A"/>
                          </a:solidFill>
                          <a:latin typeface="Calibri"/>
                        </a:defRPr>
                      </a:pPr>
                      <a:r>
                        <a:t>201,664 ms</a:t>
                      </a:r>
                    </a:p>
                  </a:txBody>
                  <a:tcPr anchor="ctr">
                    <a:solidFill>
                      <a:srgbClr val="FFFFFF"/>
                    </a:solidFill>
                  </a:tcPr>
                </a:tc>
                <a:tc>
                  <a:txBody>
                    <a:bodyPr/>
                    <a:lstStyle/>
                    <a:p>
                      <a:pPr algn="ctr">
                        <a:defRPr sz="1350" b="1">
                          <a:solidFill>
                            <a:srgbClr val="06B6D4"/>
                          </a:solidFill>
                          <a:latin typeface="Calibri"/>
                        </a:defRPr>
                      </a:pPr>
                      <a:r>
                        <a:t>5,307 ms</a:t>
                      </a:r>
                    </a:p>
                  </a:txBody>
                  <a:tcPr anchor="ctr">
                    <a:solidFill>
                      <a:srgbClr val="FFFFFF"/>
                    </a:solidFill>
                  </a:tcPr>
                </a:tc>
                <a:tc>
                  <a:txBody>
                    <a:bodyPr/>
                    <a:lstStyle/>
                    <a:p>
                      <a:pPr algn="ctr">
                        <a:defRPr sz="1350">
                          <a:solidFill>
                            <a:srgbClr val="0F172A"/>
                          </a:solidFill>
                          <a:latin typeface="Calibri"/>
                        </a:defRPr>
                      </a:pPr>
                      <a:r>
                        <a:t>45,089 ms</a:t>
                      </a:r>
                    </a:p>
                  </a:txBody>
                  <a:tcPr anchor="ctr">
                    <a:solidFill>
                      <a:srgbClr val="FFFFFF"/>
                    </a:solidFill>
                  </a:tcPr>
                </a:tc>
                <a:tc>
                  <a:txBody>
                    <a:bodyPr/>
                    <a:lstStyle/>
                    <a:p>
                      <a:pPr algn="ctr">
                        <a:defRPr sz="1350">
                          <a:solidFill>
                            <a:srgbClr val="0F172A"/>
                          </a:solidFill>
                          <a:latin typeface="Calibri"/>
                        </a:defRPr>
                      </a:pPr>
                      <a:r>
                        <a:t>37,818 ms</a:t>
                      </a:r>
                    </a:p>
                  </a:txBody>
                  <a:tcPr anchor="ctr">
                    <a:solidFill>
                      <a:srgbClr val="FFFFFF"/>
                    </a:solidFill>
                  </a:tcPr>
                </a:tc>
              </a:tr>
            </a:tbl>
          </a:graphicData>
        </a:graphic>
      </p:graphicFrame>
      <p:sp>
        <p:nvSpPr>
          <p:cNvPr id="5" name="Rounded Rectangle 4"/>
          <p:cNvSpPr/>
          <p:nvPr/>
        </p:nvSpPr>
        <p:spPr>
          <a:xfrm>
            <a:off x="8412480" y="1645920"/>
            <a:ext cx="301752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1200"/>
              </a:spcAft>
              <a:defRPr sz="1900" b="1">
                <a:solidFill>
                  <a:srgbClr val="1E293B"/>
                </a:solidFill>
                <a:latin typeface="Trebuchet MS"/>
              </a:defRPr>
            </a:pPr>
            <a:r>
              <a:t>Key Observations</a:t>
            </a:r>
          </a:p>
          <a:p>
            <a:pPr>
              <a:spcAft>
                <a:spcPts val="1000"/>
              </a:spcAft>
              <a:defRPr sz="1350">
                <a:solidFill>
                  <a:srgbClr val="0F172A"/>
                </a:solidFill>
                <a:latin typeface="Calibri"/>
              </a:defRPr>
            </a:pPr>
            <a:r>
              <a:t>• Small Datasets: GPU kernel launch (~1.7ms) and Python library loading (~21.8ms) makes Sequential C++ faster for tiny runs.</a:t>
            </a:r>
          </a:p>
          <a:p>
            <a:pPr>
              <a:spcAft>
                <a:spcPts val="1000"/>
              </a:spcAft>
              <a:defRPr sz="1350">
                <a:solidFill>
                  <a:srgbClr val="0F172A"/>
                </a:solidFill>
                <a:latin typeface="Calibri"/>
              </a:defRPr>
            </a:pPr>
            <a:r>
              <a:t>• At Scale: KDD Cup Full shows MPI (37.8s) and HIP/GPU (45s) yielding ~5.3× and 4.4× speedups.</a:t>
            </a:r>
          </a:p>
          <a:p>
            <a:pPr>
              <a:spcAft>
                <a:spcPts val="1000"/>
              </a:spcAft>
              <a:defRPr sz="1350">
                <a:solidFill>
                  <a:srgbClr val="0F172A"/>
                </a:solidFill>
                <a:latin typeface="Calibri"/>
              </a:defRPr>
            </a:pPr>
            <a:r>
              <a:t>• High-K Stress: Covertype K=50 demonstrates sklearn achieving a 87.8× speedup by optimizing matrix multiplications.</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Real-World Datasets: Execution Time &amp; Speedup Curves</a:t>
            </a:r>
          </a:p>
        </p:txBody>
      </p:sp>
      <p:graphicFrame>
        <p:nvGraphicFramePr>
          <p:cNvPr id="4" name="Chart 3"/>
          <p:cNvGraphicFramePr>
            <a:graphicFrameLocks noGrp="1"/>
          </p:cNvGraphicFramePr>
          <p:nvPr/>
        </p:nvGraphicFramePr>
        <p:xfrm>
          <a:off x="457200" y="1645920"/>
          <a:ext cx="5303520" cy="41148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6217920" y="1645920"/>
          <a:ext cx="5303520" cy="4114800"/>
        </p:xfrm>
        <a:graphic>
          <a:graphicData uri="http://schemas.openxmlformats.org/drawingml/2006/chart">
            <c:chart xmlns:c="http://schemas.openxmlformats.org/drawingml/2006/chart" r:id="rId3"/>
          </a:graphicData>
        </a:graphic>
      </p:graphicFrame>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K-MEANS PARALLEL BENCHMARK</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0F172A"/>
                </a:solidFill>
                <a:latin typeface="Trebuchet MS"/>
              </a:defRPr>
            </a:pPr>
            <a:r>
              <a:t>Cloud Acceleration Requirement: RAPIDS cuML (k-Nearest Neighbors)</a:t>
            </a:r>
          </a:p>
        </p:txBody>
      </p:sp>
      <p:sp>
        <p:nvSpPr>
          <p:cNvPr id="4" name="Rounded Rectangle 3"/>
          <p:cNvSpPr/>
          <p:nvPr/>
        </p:nvSpPr>
        <p:spPr>
          <a:xfrm>
            <a:off x="731520" y="1645920"/>
            <a:ext cx="51206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2400" b="1">
                <a:solidFill>
                  <a:srgbClr val="1E293B"/>
                </a:solidFill>
                <a:latin typeface="Trebuchet MS"/>
              </a:defRPr>
            </a:pPr>
            <a:r>
              <a:t>NVIDIA RAPIDS cuML (Google Colab T4)</a:t>
            </a:r>
          </a:p>
          <a:p>
            <a:pPr>
              <a:spcAft>
                <a:spcPts val="1200"/>
              </a:spcAft>
              <a:defRPr sz="1400">
                <a:solidFill>
                  <a:srgbClr val="0F172A"/>
                </a:solidFill>
                <a:latin typeface="Calibri"/>
              </a:defRPr>
            </a:pPr>
            <a:r>
              <a:t>Executed via Google Colab on an NVIDIA T4 GPU due to strict CUDA requirements. Uses cuBLAS GEMM and Thrust radix-select for distance calculations.</a:t>
            </a:r>
          </a:p>
          <a:p>
            <a:pPr>
              <a:spcAft>
                <a:spcPts val="800"/>
              </a:spcAft>
              <a:defRPr sz="1800" b="1">
                <a:solidFill>
                  <a:srgbClr val="EF4444"/>
                </a:solidFill>
                <a:latin typeface="Trebuchet MS"/>
              </a:defRPr>
            </a:pPr>
            <a:r>
              <a:t>The k-NN Self-Join Complexity</a:t>
            </a:r>
          </a:p>
          <a:p>
            <a:pPr>
              <a:spcAft>
                <a:spcPts val="600"/>
              </a:spcAft>
              <a:defRPr sz="1400">
                <a:solidFill>
                  <a:srgbClr val="0F172A"/>
                </a:solidFill>
                <a:latin typeface="Calibri"/>
              </a:defRPr>
            </a:pPr>
            <a:r>
              <a:t>• K-Means (O(N×K)): Distances from N points to K centroids.</a:t>
            </a:r>
          </a:p>
          <a:p>
            <a:pPr>
              <a:spcAft>
                <a:spcPts val="600"/>
              </a:spcAft>
              <a:defRPr sz="1400">
                <a:solidFill>
                  <a:srgbClr val="0F172A"/>
                </a:solidFill>
                <a:latin typeface="Calibri"/>
              </a:defRPr>
            </a:pPr>
            <a:r>
              <a:t>• k-NN (O(N²)): The required test script computed the nearest neighbors of the dataset AGAINST ITSELF.</a:t>
            </a:r>
          </a:p>
          <a:p>
            <a:pPr>
              <a:spcAft>
                <a:spcPts val="600"/>
              </a:spcAft>
              <a:defRPr sz="1400">
                <a:solidFill>
                  <a:srgbClr val="0F172A"/>
                </a:solidFill>
                <a:latin typeface="Calibri"/>
              </a:defRPr>
            </a:pPr>
            <a:r>
              <a:t>• This means computing a massive N×N distance matrix!</a:t>
            </a:r>
          </a:p>
        </p:txBody>
      </p:sp>
      <p:sp>
        <p:nvSpPr>
          <p:cNvPr id="5" name="Rounded Rectangle 4"/>
          <p:cNvSpPr/>
          <p:nvPr/>
        </p:nvSpPr>
        <p:spPr>
          <a:xfrm>
            <a:off x="6309360" y="1645920"/>
            <a:ext cx="5120640" cy="4114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ctr">
              <a:spcAft>
                <a:spcPts val="1200"/>
              </a:spcAft>
              <a:defRPr sz="2400" b="1">
                <a:solidFill>
                  <a:srgbClr val="1E293B"/>
                </a:solidFill>
                <a:latin typeface="Trebuchet MS"/>
              </a:defRPr>
            </a:pPr>
            <a:r>
              <a:t>Execution Results &amp; Complexity Limits</a:t>
            </a:r>
          </a:p>
          <a:p>
            <a:pPr>
              <a:spcAft>
                <a:spcPts val="600"/>
              </a:spcAft>
              <a:defRPr sz="1500" b="1">
                <a:solidFill>
                  <a:srgbClr val="0F172A"/>
                </a:solidFill>
                <a:latin typeface="Calibri"/>
              </a:defRPr>
            </a:pPr>
            <a:r>
              <a:t>Mall Customers (200 pts): 234.5 ms</a:t>
            </a:r>
          </a:p>
          <a:p>
            <a:pPr>
              <a:spcAft>
                <a:spcPts val="600"/>
              </a:spcAft>
              <a:defRPr sz="1500" b="1">
                <a:solidFill>
                  <a:srgbClr val="0F172A"/>
                </a:solidFill>
                <a:latin typeface="Calibri"/>
              </a:defRPr>
            </a:pPr>
            <a:r>
              <a:t>Covertype K=7 (581K pts): 33,950.7 ms</a:t>
            </a:r>
          </a:p>
          <a:p>
            <a:pPr>
              <a:spcAft>
                <a:spcPts val="600"/>
              </a:spcAft>
              <a:defRPr sz="1500" b="1">
                <a:solidFill>
                  <a:srgbClr val="0F172A"/>
                </a:solidFill>
                <a:latin typeface="Calibri"/>
              </a:defRPr>
            </a:pPr>
            <a:r>
              <a:t>Covertype K=50 (581K pts): 45,524.7 ms</a:t>
            </a:r>
          </a:p>
          <a:p>
            <a:pPr>
              <a:spcAft>
                <a:spcPts val="600"/>
              </a:spcAft>
              <a:defRPr sz="1500" b="1">
                <a:solidFill>
                  <a:srgbClr val="0F172A"/>
                </a:solidFill>
                <a:latin typeface="Calibri"/>
              </a:defRPr>
            </a:pPr>
            <a:r>
              <a:t>KDD Cup 10% (494K pts): 21,798.9 ms</a:t>
            </a:r>
          </a:p>
          <a:p>
            <a:pPr>
              <a:spcBef>
                <a:spcPts val="1200"/>
              </a:spcBef>
              <a:spcAft>
                <a:spcPts val="800"/>
              </a:spcAft>
              <a:defRPr sz="1800" b="1">
                <a:solidFill>
                  <a:srgbClr val="06B6D4"/>
                </a:solidFill>
                <a:latin typeface="Trebuchet MS"/>
              </a:defRPr>
            </a:pPr>
            <a:r>
              <a:t>The Final Dataset (KDD Cup Full - 4.89M pts):</a:t>
            </a:r>
          </a:p>
          <a:p>
            <a:pPr>
              <a:spcAft>
                <a:spcPts val="600"/>
              </a:spcAft>
              <a:defRPr sz="1400" b="1">
                <a:solidFill>
                  <a:srgbClr val="EF4444"/>
                </a:solidFill>
                <a:latin typeface="Calibri"/>
              </a:defRPr>
            </a:pPr>
            <a:r>
              <a:t>STATUS: Could not be completed (Colab dataset download failed).</a:t>
            </a:r>
          </a:p>
          <a:p>
            <a:pPr>
              <a:defRPr sz="1300">
                <a:solidFill>
                  <a:srgbClr val="0F172A"/>
                </a:solidFill>
                <a:latin typeface="Calibri"/>
              </a:defRPr>
            </a:pPr>
            <a:r>
              <a:t>Theoretical Extrapolation: An N×N matrix for 4.89 million points requires nearly 24 TRILLION distance computations. Even if downloaded, the T4 GPU would likely have encountered an Out-of-Memory (OOM) error or exceeded Colab's session time limits.</a:t>
            </a:r>
          </a:p>
        </p:txBody>
      </p:sp>
      <p:sp>
        <p:nvSpPr>
          <p:cNvPr id="6" name="TextBox 5"/>
          <p:cNvSpPr txBox="1"/>
          <p:nvPr/>
        </p:nvSpPr>
        <p:spPr>
          <a:xfrm>
            <a:off x="731520" y="6400800"/>
            <a:ext cx="10698480" cy="274320"/>
          </a:xfrm>
          <a:prstGeom prst="rect">
            <a:avLst/>
          </a:prstGeom>
          <a:noFill/>
        </p:spPr>
        <p:txBody>
          <a:bodyPr wrap="square" lIns="0" tIns="0" rIns="0" bIns="0">
            <a:spAutoFit/>
          </a:bodyPr>
          <a:lstStyle/>
          <a:p>
            <a:pPr>
              <a:defRPr sz="1100">
                <a:solidFill>
                  <a:srgbClr val="64748B"/>
                </a:solidFill>
                <a:latin typeface="Calibri"/>
              </a:defRPr>
            </a:pPr>
            <a:r>
              <a:t>AMD Ryzen 7 7840HS &amp; Radeon 780M Benchmarking Suite | Page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tIns="0" rIns="0" bIns="0">
            <a:spAutoFit/>
          </a:bodyPr>
          <a:lstStyle/>
          <a:p>
            <a:pPr>
              <a:defRPr sz="1200" b="1">
                <a:solidFill>
                  <a:srgbClr val="06B6D4"/>
                </a:solidFill>
                <a:latin typeface="Calibri"/>
              </a:defRPr>
            </a:pPr>
            <a:r>
              <a:t>SUMMARY &amp; FINDINGS</a:t>
            </a:r>
          </a:p>
        </p:txBody>
      </p:sp>
      <p:sp>
        <p:nvSpPr>
          <p:cNvPr id="3" name="TextBox 2"/>
          <p:cNvSpPr txBox="1"/>
          <p:nvPr/>
        </p:nvSpPr>
        <p:spPr>
          <a:xfrm>
            <a:off x="731520" y="594360"/>
            <a:ext cx="10698480" cy="731520"/>
          </a:xfrm>
          <a:prstGeom prst="rect">
            <a:avLst/>
          </a:prstGeom>
          <a:noFill/>
        </p:spPr>
        <p:txBody>
          <a:bodyPr wrap="square" lIns="0" tIns="0" rIns="0" bIns="0">
            <a:spAutoFit/>
          </a:bodyPr>
          <a:lstStyle/>
          <a:p>
            <a:pPr>
              <a:defRPr sz="3200" b="1">
                <a:solidFill>
                  <a:srgbClr val="F1F5F9"/>
                </a:solidFill>
                <a:latin typeface="Trebuchet MS"/>
              </a:defRPr>
            </a:pPr>
            <a:r>
              <a:t>Core Takeaways: Parallel Computing Insights</a:t>
            </a:r>
          </a:p>
        </p:txBody>
      </p:sp>
      <p:sp>
        <p:nvSpPr>
          <p:cNvPr id="4" name="Rectangle 3"/>
          <p:cNvSpPr/>
          <p:nvPr/>
        </p:nvSpPr>
        <p:spPr>
          <a:xfrm>
            <a:off x="731520" y="1645920"/>
            <a:ext cx="3291840" cy="4114800"/>
          </a:xfrm>
          <a:prstGeom prst="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700"/>
              </a:spcAft>
              <a:defRPr sz="4200" b="1">
                <a:solidFill>
                  <a:srgbClr val="06B6D4"/>
                </a:solidFill>
                <a:latin typeface="Trebuchet MS"/>
              </a:defRPr>
            </a:pPr>
            <a:r>
              <a:t>01</a:t>
            </a:r>
          </a:p>
          <a:p>
            <a:pPr>
              <a:spcAft>
                <a:spcPts val="1450"/>
              </a:spcAft>
              <a:defRPr sz="2100" b="1">
                <a:solidFill>
                  <a:srgbClr val="F1F5F9"/>
                </a:solidFill>
                <a:latin typeface="Trebuchet MS"/>
              </a:defRPr>
            </a:pPr>
            <a:r>
              <a:t>Hardware Boundaries</a:t>
            </a:r>
          </a:p>
          <a:p>
            <a:pPr>
              <a:defRPr sz="1450">
                <a:solidFill>
                  <a:srgbClr val="F1F5F9"/>
                </a:solidFill>
                <a:latin typeface="Calibri"/>
              </a:defRPr>
            </a:pPr>
            <a:r>
              <a:t>Unified Memory Architecture (UMA) on integrated GPUs like the Radeon 780M eliminates host-to-device copy overhead, but shares system RAM bandwidth. For data-intensive algorithms, GPU execution speed is bound by RAM speed, whereas a discrete GPU with dedicated VRAM would yield much higher speedups.</a:t>
            </a:r>
          </a:p>
        </p:txBody>
      </p:sp>
      <p:sp>
        <p:nvSpPr>
          <p:cNvPr id="5" name="Rectangle 4"/>
          <p:cNvSpPr/>
          <p:nvPr/>
        </p:nvSpPr>
        <p:spPr>
          <a:xfrm>
            <a:off x="4389120" y="1645920"/>
            <a:ext cx="3291840" cy="4114800"/>
          </a:xfrm>
          <a:prstGeom prst="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700"/>
              </a:spcAft>
              <a:defRPr sz="4200" b="1">
                <a:solidFill>
                  <a:srgbClr val="06B6D4"/>
                </a:solidFill>
                <a:latin typeface="Trebuchet MS"/>
              </a:defRPr>
            </a:pPr>
            <a:r>
              <a:t>02</a:t>
            </a:r>
          </a:p>
          <a:p>
            <a:pPr>
              <a:spcAft>
                <a:spcPts val="1450"/>
              </a:spcAft>
              <a:defRPr sz="2100" b="1">
                <a:solidFill>
                  <a:srgbClr val="F1F5F9"/>
                </a:solidFill>
                <a:latin typeface="Trebuchet MS"/>
              </a:defRPr>
            </a:pPr>
            <a:r>
              <a:t>Algorithmic Vectorization</a:t>
            </a:r>
          </a:p>
          <a:p>
            <a:pPr>
              <a:defRPr sz="1450">
                <a:solidFill>
                  <a:srgbClr val="F1F5F9"/>
                </a:solidFill>
                <a:latin typeface="Calibri"/>
              </a:defRPr>
            </a:pPr>
            <a:r>
              <a:t>Traditional loops (even GPU or MPI parallelized) compile to coordinate-by-coordinate distance branches. Mapping the mathematical formula to GEMM matrix operations (the kernel trick in scikit-learn) allows CPU/SIMD hardware to execute at peak FLOPS, showing that formulation optimizations often outperform raw compute parallelization.</a:t>
            </a:r>
          </a:p>
        </p:txBody>
      </p:sp>
      <p:sp>
        <p:nvSpPr>
          <p:cNvPr id="6" name="Rectangle 5"/>
          <p:cNvSpPr/>
          <p:nvPr/>
        </p:nvSpPr>
        <p:spPr>
          <a:xfrm>
            <a:off x="8046720" y="1645920"/>
            <a:ext cx="3291840" cy="4114800"/>
          </a:xfrm>
          <a:prstGeom prst="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700"/>
              </a:spcAft>
              <a:defRPr sz="4200" b="1">
                <a:solidFill>
                  <a:srgbClr val="06B6D4"/>
                </a:solidFill>
                <a:latin typeface="Trebuchet MS"/>
              </a:defRPr>
            </a:pPr>
            <a:r>
              <a:t>03</a:t>
            </a:r>
          </a:p>
          <a:p>
            <a:pPr>
              <a:spcAft>
                <a:spcPts val="1450"/>
              </a:spcAft>
              <a:defRPr sz="2100" b="1">
                <a:solidFill>
                  <a:srgbClr val="F1F5F9"/>
                </a:solidFill>
                <a:latin typeface="Trebuchet MS"/>
              </a:defRPr>
            </a:pPr>
            <a:r>
              <a:t>Communication Overhead</a:t>
            </a:r>
          </a:p>
          <a:p>
            <a:pPr>
              <a:defRPr sz="1450">
                <a:solidFill>
                  <a:srgbClr val="F1F5F9"/>
                </a:solidFill>
                <a:latin typeface="Calibri"/>
              </a:defRPr>
            </a:pPr>
            <a:r>
              <a:t>MPI distributed memory scales well for computation but requires all-to-all synchronization. The MPI_Allreduce collective operation's communication overhead grows linearly with cluster size K. For high-cluster counts, MPI's scaling is hindered by communication latency, highlighting the classic compute-to-communication ratio challenge.</a:t>
            </a:r>
          </a:p>
        </p:txBody>
      </p:sp>
      <p:sp>
        <p:nvSpPr>
          <p:cNvPr id="7" name="TextBox 6"/>
          <p:cNvSpPr txBox="1"/>
          <p:nvPr/>
        </p:nvSpPr>
        <p:spPr>
          <a:xfrm>
            <a:off x="731520" y="6400800"/>
            <a:ext cx="10698480" cy="274320"/>
          </a:xfrm>
          <a:prstGeom prst="rect">
            <a:avLst/>
          </a:prstGeom>
          <a:noFill/>
        </p:spPr>
        <p:txBody>
          <a:bodyPr wrap="square" lIns="0" tIns="0" rIns="0" bIns="0">
            <a:spAutoFit/>
          </a:bodyPr>
          <a:lstStyle/>
          <a:p>
            <a:pPr>
              <a:defRPr sz="1100">
                <a:solidFill>
                  <a:srgbClr val="F1F5F9"/>
                </a:solidFill>
                <a:latin typeface="Calibri"/>
              </a:defRPr>
            </a:pPr>
            <a:r>
              <a:t>AMD Ryzen 7 7840HS &amp; Radeon 780M Benchmarking Suite | Page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