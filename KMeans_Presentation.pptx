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Sequential</c:v>
                </c:pt>
              </c:strCache>
            </c:strRef>
          </c:tx>
          <c:spPr>
            <a:solidFill>
              <a:srgbClr val="4A62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4965</c:v>
                </c:pt>
                <c:pt idx="1">
                  <c:v>39605</c:v>
                </c:pt>
                <c:pt idx="2">
                  <c:v>212183</c:v>
                </c:pt>
                <c:pt idx="3">
                  <c:v>306346</c:v>
                </c:pt>
                <c:pt idx="4">
                  <c:v>613309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Scikit-Learn</c:v>
                </c:pt>
              </c:strCache>
            </c:strRef>
          </c:tx>
          <c:spPr>
            <a:solidFill>
              <a:srgbClr val="FFD1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396</c:v>
                </c:pt>
                <c:pt idx="1">
                  <c:v>1722</c:v>
                </c:pt>
                <c:pt idx="2">
                  <c:v>8109</c:v>
                </c:pt>
                <c:pt idx="3">
                  <c:v>21833</c:v>
                </c:pt>
                <c:pt idx="4">
                  <c:v>31115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HIP (GPU)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2122</c:v>
                </c:pt>
                <c:pt idx="1">
                  <c:v>15031</c:v>
                </c:pt>
                <c:pt idx="2">
                  <c:v>48300</c:v>
                </c:pt>
                <c:pt idx="3">
                  <c:v>77633</c:v>
                </c:pt>
                <c:pt idx="4">
                  <c:v>142613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MPI 4P</c:v>
                </c:pt>
              </c:strCache>
            </c:strRef>
          </c:tx>
          <c:spPr>
            <a:solidFill>
              <a:srgbClr val="F4A2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1484</c:v>
                </c:pt>
                <c:pt idx="1">
                  <c:v>9502</c:v>
                </c:pt>
                <c:pt idx="2">
                  <c:v>53818</c:v>
                </c:pt>
                <c:pt idx="3">
                  <c:v>160434</c:v>
                </c:pt>
                <c:pt idx="4">
                  <c:v>156254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Scikit-Learn</c:v>
                </c:pt>
              </c:strCache>
            </c:strRef>
          </c:tx>
          <c:spPr>
            <a:solidFill>
              <a:srgbClr val="FFD166"/>
            </a:solidFill>
            <a:ln w="31750" cap="flat">
              <a:solidFill>
                <a:srgbClr val="FFD1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D166"/>
              </a:solidFill>
              <a:ln w="9525" cap="flat">
                <a:solidFill>
                  <a:srgbClr val="FFD1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12.54</c:v>
                </c:pt>
                <c:pt idx="1">
                  <c:v>23</c:v>
                </c:pt>
                <c:pt idx="2">
                  <c:v>26.17</c:v>
                </c:pt>
                <c:pt idx="3">
                  <c:v>14.03</c:v>
                </c:pt>
                <c:pt idx="4">
                  <c:v>19.71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HIP (GPU)</c:v>
                </c:pt>
              </c:strCache>
            </c:strRef>
          </c:tx>
          <c:spPr>
            <a:solidFill>
              <a:srgbClr val="00B4D8"/>
            </a:solidFill>
            <a:ln w="31750" cap="flat">
              <a:solidFill>
                <a:srgbClr val="00B4D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B4D8"/>
              </a:solidFill>
              <a:ln w="9525" cap="flat">
                <a:solidFill>
                  <a:srgbClr val="00B4D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2.34</c:v>
                </c:pt>
                <c:pt idx="1">
                  <c:v>2.63</c:v>
                </c:pt>
                <c:pt idx="2">
                  <c:v>4.39</c:v>
                </c:pt>
                <c:pt idx="3">
                  <c:v>3.95</c:v>
                </c:pt>
                <c:pt idx="4">
                  <c:v>4.3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MPI 4P</c:v>
                </c:pt>
              </c:strCache>
            </c:strRef>
          </c:tx>
          <c:spPr>
            <a:solidFill>
              <a:srgbClr val="F4A261"/>
            </a:solidFill>
            <a:ln w="31750" cap="flat">
              <a:solidFill>
                <a:srgbClr val="F4A2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4A261"/>
              </a:solidFill>
              <a:ln w="9525" cap="flat">
                <a:solidFill>
                  <a:srgbClr val="F4A2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DS1</c:v>
                  </c:pt>
                  <c:pt idx="1">
                    <c:v>DS2</c:v>
                  </c:pt>
                  <c:pt idx="2">
                    <c:v>DS3</c:v>
                  </c:pt>
                  <c:pt idx="3">
                    <c:v>DS4</c:v>
                  </c:pt>
                  <c:pt idx="4">
                    <c:v>DS5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3.35</c:v>
                </c:pt>
                <c:pt idx="1">
                  <c:v>4.17</c:v>
                </c:pt>
                <c:pt idx="2">
                  <c:v>3.94</c:v>
                </c:pt>
                <c:pt idx="3">
                  <c:v>1.91</c:v>
                </c:pt>
                <c:pt idx="4">
                  <c:v>3.93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-457200"/>
            <a:ext cx="3474720" cy="3474720"/>
          </a:xfrm>
          <a:prstGeom prst="ellipse">
            <a:avLst/>
          </a:prstGeom>
          <a:solidFill>
            <a:srgbClr val="142C44"/>
          </a:solidFill>
          <a:ln w="12700">
            <a:solidFill>
              <a:srgbClr val="142C4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949440" y="182880"/>
            <a:ext cx="2011680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4D8"/>
                </a:solidFill>
              </a:rPr>
              <a:t>PARALLEL COMPUTING PROJECT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74320" y="1417320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K-Means Clustering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274320" y="24231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B4D8"/>
                </a:solidFill>
              </a:rPr>
              <a:t>Parallel Implementations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274320" y="3200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B3C8"/>
                </a:solidFill>
              </a:rPr>
              <a:t>Sequential · Scikit-Learn · HIP (AMD GPU) · MPI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27432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5"/>
                </a:solidFill>
              </a:rPr>
              <a:t>Hardware: AMD Ryzen 7840HS · Radeon 780M iGPU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What is K-Means Clustering?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657600"/>
          </a:xfrm>
          <a:prstGeom prst="rect">
            <a:avLst/>
          </a:prstGeom>
          <a:solidFill>
            <a:srgbClr val="E8F4F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05840"/>
            <a:ext cx="4114800" cy="50292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Lloyd's Algorithm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91056"/>
            <a:ext cx="292608" cy="29260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6002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1. Initialize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185623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Pick K random points as initial centroids (Forgy method)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395728"/>
            <a:ext cx="292608" cy="29260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3865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24048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2. Assign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660904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Each point → nearest centroid (Voronoi partition). Squared Euclidean distance — no √ needed.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1480" y="3200400"/>
            <a:ext cx="292608" cy="29260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191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3209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3. Update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465576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Recompute centroid = mean of all assigned points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" y="4005072"/>
            <a:ext cx="292608" cy="29260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995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40142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4. Repeat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270248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Until no point changes cluster (convergence guaranteed — WCSS decreases monotonically)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1005840"/>
            <a:ext cx="4206240" cy="10515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0058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Computational Complexity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14173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O(N × K × D × I)</a:t>
            </a:r>
            <a:pPr algn="ctr" indent="0" marL="0">
              <a:buNone/>
            </a:pPr>
            <a:r>
              <a:rPr lang="en-US" sz="1200" dirty="0">
                <a:solidFill>
                  <a:srgbClr val="7FB3C8"/>
                </a:solidFill>
              </a:rPr>
              <a:t>  per run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663440" y="2194560"/>
            <a:ext cx="1005840" cy="640080"/>
          </a:xfrm>
          <a:prstGeom prst="rect">
            <a:avLst/>
          </a:prstGeom>
          <a:solidFill>
            <a:srgbClr val="1A2E42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21945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</a:rPr>
              <a:t>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663440" y="25146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Points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715000" y="2194560"/>
            <a:ext cx="1005840" cy="640080"/>
          </a:xfrm>
          <a:prstGeom prst="rect">
            <a:avLst/>
          </a:prstGeom>
          <a:solidFill>
            <a:srgbClr val="1A2E42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15000" y="21945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A261"/>
                </a:solidFill>
              </a:rPr>
              <a:t>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715000" y="25146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Clusters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766560" y="2194560"/>
            <a:ext cx="1005840" cy="640080"/>
          </a:xfrm>
          <a:prstGeom prst="rect">
            <a:avLst/>
          </a:prstGeom>
          <a:solidFill>
            <a:srgbClr val="1A2E42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21945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166"/>
                </a:solidFill>
              </a:rPr>
              <a:t>D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766560" y="25146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Dimensions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818120" y="2194560"/>
            <a:ext cx="1005840" cy="640080"/>
          </a:xfrm>
          <a:prstGeom prst="rect">
            <a:avLst/>
          </a:prstGeom>
          <a:solidFill>
            <a:srgbClr val="1A2E42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18120" y="21945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C653"/>
                </a:solidFill>
              </a:rPr>
              <a:t>I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818120" y="25146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Iterations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926080"/>
            <a:ext cx="4206240" cy="1737360"/>
          </a:xfrm>
          <a:prstGeom prst="rect">
            <a:avLst/>
          </a:prstGeom>
          <a:solidFill>
            <a:srgbClr val="FFF8E7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926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261"/>
                </a:solidFill>
              </a:rPr>
              <a:t>⚡ Embarrassingly Parallel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800600" y="342900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2A"/>
                </a:solidFill>
              </a:rPr>
              <a:t>Assignment phase</a:t>
            </a:r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 is the bottleneck — each point's nearest-centroid search is fully independent of every other point.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This is the core reason GPU &amp; MPI acceleration works so well.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Four Implementations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37160" y="1005840"/>
            <a:ext cx="2103120" cy="3931920"/>
          </a:xfrm>
          <a:prstGeom prst="rect">
            <a:avLst/>
          </a:prstGeom>
          <a:solidFill>
            <a:srgbClr val="E8F4F8"/>
          </a:solidFill>
          <a:ln w="12700">
            <a:solidFill>
              <a:srgbClr val="4A627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" y="1005840"/>
            <a:ext cx="2103120" cy="365760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" y="1005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2A"/>
                </a:solidFill>
              </a:rPr>
              <a:t>Baseline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6304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28600" y="20848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Sequential C++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6888" y="2761488"/>
            <a:ext cx="118872" cy="118872"/>
          </a:xfrm>
          <a:prstGeom prst="ellipse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11480" y="26974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Single-threaded Lloyd's algorithm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46888" y="3264408"/>
            <a:ext cx="118872" cy="118872"/>
          </a:xfrm>
          <a:prstGeom prst="ellipse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1480" y="32004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Data-Oriented Design (flat arrays)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46888" y="3767328"/>
            <a:ext cx="118872" cy="118872"/>
          </a:xfrm>
          <a:prstGeom prst="ellipse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11480" y="370332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Squared Euclidean — no √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46888" y="4270248"/>
            <a:ext cx="118872" cy="118872"/>
          </a:xfrm>
          <a:prstGeom prst="ellipse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" y="42062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Establishes the performance floor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377440" y="1005840"/>
            <a:ext cx="2103120" cy="3931920"/>
          </a:xfrm>
          <a:prstGeom prst="rect">
            <a:avLst/>
          </a:prstGeom>
          <a:solidFill>
            <a:srgbClr val="E8F4F8"/>
          </a:solidFill>
          <a:ln w="12700">
            <a:solidFill>
              <a:srgbClr val="FFD1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377440" y="1005840"/>
            <a:ext cx="2103120" cy="36576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377440" y="1005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2A"/>
                </a:solidFill>
              </a:rPr>
              <a:t>Optimized CPU</a:t>
            </a:r>
            <a:endParaRPr lang="en-US" sz="9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463040"/>
            <a:ext cx="548640" cy="54864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468880" y="20848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Scikit-Learn (Python)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487168" y="2761488"/>
            <a:ext cx="118872" cy="118872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2651760" y="26974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BLAS vectorization (OpenBLAS)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2487168" y="3264408"/>
            <a:ext cx="118872" cy="118872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2651760" y="32004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Kernel trick: ‖X‑C‖²=‖X‖²‑2XCᵀ+‖C‖²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2487168" y="3767328"/>
            <a:ext cx="118872" cy="118872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2651760" y="370332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Multi-core SIMD (AVX2)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2487168" y="4270248"/>
            <a:ext cx="118872" cy="118872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2651760" y="42062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Fastest overall — highly optimized lib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617720" y="1005840"/>
            <a:ext cx="2103120" cy="3931920"/>
          </a:xfrm>
          <a:prstGeom prst="rect">
            <a:avLst/>
          </a:prstGeom>
          <a:solidFill>
            <a:srgbClr val="E8F4F8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617720" y="1005840"/>
            <a:ext cx="2103120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617720" y="1005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2A"/>
                </a:solidFill>
              </a:rPr>
              <a:t>GPU Parallel</a:t>
            </a:r>
            <a:endParaRPr lang="en-US" sz="90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463040"/>
            <a:ext cx="548640" cy="54864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4709160" y="20848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HIP / AMD GPU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4727448" y="2761488"/>
            <a:ext cx="118872" cy="11887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892040" y="26974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Each thread = one point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4727448" y="3264408"/>
            <a:ext cx="118872" cy="11887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4892040" y="32004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Coalesced flat 1D memory layout</a:t>
            </a:r>
            <a:endParaRPr lang="en-US" sz="900" dirty="0"/>
          </a:p>
        </p:txBody>
      </p:sp>
      <p:sp>
        <p:nvSpPr>
          <p:cNvPr id="39" name="Shape 34"/>
          <p:cNvSpPr/>
          <p:nvPr/>
        </p:nvSpPr>
        <p:spPr>
          <a:xfrm>
            <a:off x="4727448" y="3767328"/>
            <a:ext cx="118872" cy="11887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4892040" y="370332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atomicAdd for race-free centroid update</a:t>
            </a:r>
            <a:endParaRPr lang="en-US" sz="900" dirty="0"/>
          </a:p>
        </p:txBody>
      </p:sp>
      <p:sp>
        <p:nvSpPr>
          <p:cNvPr id="41" name="Shape 36"/>
          <p:cNvSpPr/>
          <p:nvPr/>
        </p:nvSpPr>
        <p:spPr>
          <a:xfrm>
            <a:off x="4727448" y="4270248"/>
            <a:ext cx="118872" cy="11887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4892040" y="42062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AMD iGPU (Radeon 780M) via HIP runtime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6858000" y="1005840"/>
            <a:ext cx="2103120" cy="3931920"/>
          </a:xfrm>
          <a:prstGeom prst="rect">
            <a:avLst/>
          </a:prstGeom>
          <a:solidFill>
            <a:srgbClr val="E8F4F8"/>
          </a:solidFill>
          <a:ln w="12700">
            <a:solidFill>
              <a:srgbClr val="F4A2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6858000" y="1005840"/>
            <a:ext cx="2103120" cy="3657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6858000" y="1005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2A"/>
                </a:solidFill>
              </a:rPr>
              <a:t>Distributed CPU</a:t>
            </a:r>
            <a:endParaRPr lang="en-US" sz="900" dirty="0"/>
          </a:p>
        </p:txBody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463040"/>
            <a:ext cx="548640" cy="548640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6949440" y="20848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MPI (4 Processes)</a:t>
            </a:r>
            <a:endParaRPr lang="en-US" sz="1100" dirty="0"/>
          </a:p>
        </p:txBody>
      </p:sp>
      <p:sp>
        <p:nvSpPr>
          <p:cNvPr id="48" name="Shape 42"/>
          <p:cNvSpPr/>
          <p:nvPr/>
        </p:nvSpPr>
        <p:spPr>
          <a:xfrm>
            <a:off x="6967728" y="2761488"/>
            <a:ext cx="118872" cy="11887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7132320" y="26974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Domain decomposition: N/P points each</a:t>
            </a:r>
            <a:endParaRPr lang="en-US" sz="900" dirty="0"/>
          </a:p>
        </p:txBody>
      </p:sp>
      <p:sp>
        <p:nvSpPr>
          <p:cNvPr id="50" name="Shape 44"/>
          <p:cNvSpPr/>
          <p:nvPr/>
        </p:nvSpPr>
        <p:spPr>
          <a:xfrm>
            <a:off x="6967728" y="3264408"/>
            <a:ext cx="118872" cy="11887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7132320" y="32004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MPI_Scatterv distributes data once</a:t>
            </a:r>
            <a:endParaRPr lang="en-US" sz="900" dirty="0"/>
          </a:p>
        </p:txBody>
      </p:sp>
      <p:sp>
        <p:nvSpPr>
          <p:cNvPr id="52" name="Shape 46"/>
          <p:cNvSpPr/>
          <p:nvPr/>
        </p:nvSpPr>
        <p:spPr>
          <a:xfrm>
            <a:off x="6967728" y="3767328"/>
            <a:ext cx="118872" cy="11887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3" name="Text 47"/>
          <p:cNvSpPr/>
          <p:nvPr/>
        </p:nvSpPr>
        <p:spPr>
          <a:xfrm>
            <a:off x="7132320" y="370332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MPI_Allreduce for global centroid sums</a:t>
            </a:r>
            <a:endParaRPr lang="en-US" sz="900" dirty="0"/>
          </a:p>
        </p:txBody>
      </p:sp>
      <p:sp>
        <p:nvSpPr>
          <p:cNvPr id="54" name="Shape 48"/>
          <p:cNvSpPr/>
          <p:nvPr/>
        </p:nvSpPr>
        <p:spPr>
          <a:xfrm>
            <a:off x="6967728" y="4270248"/>
            <a:ext cx="118872" cy="11887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5" name="Text 49"/>
          <p:cNvSpPr/>
          <p:nvPr/>
        </p:nvSpPr>
        <p:spPr>
          <a:xfrm>
            <a:off x="7132320" y="42062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Barrier-synchronized timing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Sequential C++ vs HIP GPU — Structural Differences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82880" y="987552"/>
            <a:ext cx="4114800" cy="402336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2880" y="98755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Sequential C++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987552"/>
            <a:ext cx="4114800" cy="40233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98755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HIP GPU (AMD)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880" y="1463040"/>
            <a:ext cx="411480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463040"/>
            <a:ext cx="411480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15968" y="1463040"/>
            <a:ext cx="512064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15968" y="1463040"/>
            <a:ext cx="512064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B4D8"/>
                </a:solidFill>
              </a:rPr>
              <a:t>Memory Layout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56032" y="1499616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vector&lt;vector&lt;double&gt;&gt;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2D nested (cache misses possible)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19472" y="1499616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Flat 1D double[N*D]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Coalesced GPU access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82880" y="217627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6320" y="217627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15968" y="2176272"/>
            <a:ext cx="512064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5968" y="2176272"/>
            <a:ext cx="512064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B4D8"/>
                </a:solidFill>
              </a:rPr>
              <a:t>Assignment Phase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56032" y="2212848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Sequential for-loop: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for i in 0..N → find min dist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19472" y="2212848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__global__ kernel: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Thread i ↔ Point i (massively parallel)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" y="2889504"/>
            <a:ext cx="411480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889504"/>
            <a:ext cx="411480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2889504"/>
            <a:ext cx="512064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2889504"/>
            <a:ext cx="512064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B4D8"/>
                </a:solidFill>
              </a:rPr>
              <a:t>Changed Flag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56032" y="2926080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bool changed = true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Simple branch on CPU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19472" y="2926080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atomicExch(flag,1) on GPU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Race-condition-free atomic op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82880" y="360273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46320" y="360273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15968" y="3602736"/>
            <a:ext cx="512064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15968" y="3602736"/>
            <a:ext cx="512064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B4D8"/>
                </a:solidFill>
              </a:rPr>
              <a:t>Centroid Update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6032" y="363931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Sequential accumulation: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for i → sum += data[i]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919472" y="363931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atomicAdd per point per dim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All threads accumulate concurrently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82880" y="4315968"/>
            <a:ext cx="411480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46320" y="4315968"/>
            <a:ext cx="411480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D0DD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15968" y="4315968"/>
            <a:ext cx="512064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15968" y="4315968"/>
            <a:ext cx="512064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B4D8"/>
                </a:solidFill>
              </a:rPr>
              <a:t>Division (new centroid)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256032" y="4352544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CPU: divide by count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Same as GPU version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919472" y="4352544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GPU accumulate → copy to CPU → divide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</a:rPr>
              <a:t>GPU can't easily do this step in parallel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MPI Implementation — How It Works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051560"/>
            <a:ext cx="1463040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051560"/>
            <a:ext cx="146304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Rank 0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Reads Data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91640" y="1481328"/>
            <a:ext cx="0" cy="0"/>
          </a:xfrm>
          <a:prstGeom prst="line">
            <a:avLst/>
          </a:prstGeom>
          <a:noFill/>
          <a:ln w="19050">
            <a:solidFill>
              <a:srgbClr val="4A627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700000">
            <a:off x="1691640" y="1417320"/>
            <a:ext cx="137160" cy="137160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74520" y="1051560"/>
            <a:ext cx="1371600" cy="868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74520" y="1051560"/>
            <a:ext cx="13716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MPI_Bcast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Header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481328"/>
            <a:ext cx="0" cy="0"/>
          </a:xfrm>
          <a:prstGeom prst="line">
            <a:avLst/>
          </a:prstGeom>
          <a:noFill/>
          <a:ln w="19050">
            <a:solidFill>
              <a:srgbClr val="4A627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2700000">
            <a:off x="3246120" y="1417320"/>
            <a:ext cx="137160" cy="137160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051560"/>
            <a:ext cx="1463040" cy="868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29000" y="1051560"/>
            <a:ext cx="146304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MPI_Scatterv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Split N/P rows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92040" y="1481328"/>
            <a:ext cx="0" cy="0"/>
          </a:xfrm>
          <a:prstGeom prst="line">
            <a:avLst/>
          </a:prstGeom>
          <a:noFill/>
          <a:ln w="19050">
            <a:solidFill>
              <a:srgbClr val="4A627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2700000">
            <a:off x="4892040" y="1417320"/>
            <a:ext cx="137160" cy="137160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74920" y="1051560"/>
            <a:ext cx="1371600" cy="86868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74920" y="1051560"/>
            <a:ext cx="13716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Local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Assignment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(parallel)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46520" y="1481328"/>
            <a:ext cx="0" cy="0"/>
          </a:xfrm>
          <a:prstGeom prst="line">
            <a:avLst/>
          </a:prstGeom>
          <a:noFill/>
          <a:ln w="19050">
            <a:solidFill>
              <a:srgbClr val="4A627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2700000">
            <a:off x="6446520" y="1417320"/>
            <a:ext cx="137160" cy="137160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9400" y="1051560"/>
            <a:ext cx="1463040" cy="868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629400" y="1051560"/>
            <a:ext cx="146304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MPI_Allreduce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Global centroid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sums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092440" y="1481328"/>
            <a:ext cx="0" cy="0"/>
          </a:xfrm>
          <a:prstGeom prst="line">
            <a:avLst/>
          </a:prstGeom>
          <a:noFill/>
          <a:ln w="19050">
            <a:solidFill>
              <a:srgbClr val="4A627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2700000">
            <a:off x="8092440" y="1417320"/>
            <a:ext cx="137160" cy="137160"/>
          </a:xfrm>
          <a:prstGeom prst="rect">
            <a:avLst/>
          </a:prstGeom>
          <a:solidFill>
            <a:srgbClr val="4A6275"/>
          </a:solidFill>
          <a:ln w="12700">
            <a:solidFill>
              <a:srgbClr val="4A627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75320" y="1051560"/>
            <a:ext cx="685800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75320" y="1051560"/>
            <a:ext cx="6858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Repeat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until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convergence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21031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4 MPI Processes — each owns N/4 points: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74320" y="2468880"/>
            <a:ext cx="2011680" cy="2468880"/>
          </a:xfrm>
          <a:prstGeom prst="rect">
            <a:avLst/>
          </a:prstGeom>
          <a:solidFill>
            <a:srgbClr val="E8F4F8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74320" y="2468880"/>
            <a:ext cx="201168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4688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Rank 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84048" y="2980944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29077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Reads stdin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84048" y="336499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Scatters data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84048" y="3749040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6758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Picks centroids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84048" y="4133088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0599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Gathers results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84048" y="4517136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4439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Prints output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468880" y="2468880"/>
            <a:ext cx="2011680" cy="2468880"/>
          </a:xfrm>
          <a:prstGeom prst="rect">
            <a:avLst/>
          </a:prstGeom>
          <a:solidFill>
            <a:srgbClr val="E8F4F8"/>
          </a:solidFill>
          <a:ln w="12700">
            <a:solidFill>
              <a:srgbClr val="F4A2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468880" y="2468880"/>
            <a:ext cx="2011680" cy="3474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68880" y="24688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Rank 1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578608" y="2980944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0" y="29077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Receives data slice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578608" y="3364992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74320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Assigns local pts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578608" y="3749040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43200" y="36758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Sends partial sums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578608" y="4133088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43200" y="40599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Receives new centroids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578608" y="4517136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743200" y="44439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Loops to convergence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63440" y="2468880"/>
            <a:ext cx="2011680" cy="2468880"/>
          </a:xfrm>
          <a:prstGeom prst="rect">
            <a:avLst/>
          </a:prstGeom>
          <a:solidFill>
            <a:srgbClr val="E8F4F8"/>
          </a:solidFill>
          <a:ln w="12700">
            <a:solidFill>
              <a:srgbClr val="2DC65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4663440" y="2468880"/>
            <a:ext cx="2011680" cy="347472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63440" y="24688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Rank 2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773168" y="2980944"/>
            <a:ext cx="109728" cy="109728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0" y="29077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Receives data slice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773168" y="3364992"/>
            <a:ext cx="109728" cy="109728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Assigns local pts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773168" y="3749040"/>
            <a:ext cx="109728" cy="109728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37760" y="36758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Sends partial sums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773168" y="4133088"/>
            <a:ext cx="109728" cy="109728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37760" y="40599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Receives new centroids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773168" y="4517136"/>
            <a:ext cx="109728" cy="109728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37760" y="44439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Loops to convergence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858000" y="2468880"/>
            <a:ext cx="2011680" cy="2468880"/>
          </a:xfrm>
          <a:prstGeom prst="rect">
            <a:avLst/>
          </a:prstGeom>
          <a:solidFill>
            <a:srgbClr val="E8F4F8"/>
          </a:solidFill>
          <a:ln w="12700">
            <a:solidFill>
              <a:srgbClr val="FFD16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6858000" y="2468880"/>
            <a:ext cx="2011680" cy="34747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858000" y="24688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Rank 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6967728" y="2980944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32320" y="29077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Receives data slice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967728" y="3364992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13232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Assigns local pts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6967728" y="3749040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32320" y="36758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Sends partial sums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967728" y="4133088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32320" y="40599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Receives new centroids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6967728" y="4517136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32320" y="44439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</a:rPr>
              <a:t>Loops to convergence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</a:rPr>
              <a:t>Hardware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114800" cy="3794760"/>
          </a:xfrm>
          <a:prstGeom prst="rect">
            <a:avLst/>
          </a:prstGeom>
          <a:solidFill>
            <a:srgbClr val="1A2E42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51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CPU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1600200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30175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AMD Ryzen 7 7840HS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20040" y="3547872"/>
            <a:ext cx="4023360" cy="219456"/>
          </a:xfrm>
          <a:prstGeom prst="rect">
            <a:avLst/>
          </a:prstGeom>
          <a:solidFill>
            <a:srgbClr val="142C44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35478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Cores / Threads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468880" y="35478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8C / 16T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4023360" cy="219456"/>
          </a:xfrm>
          <a:prstGeom prst="rect">
            <a:avLst/>
          </a:prstGeom>
          <a:solidFill>
            <a:srgbClr val="1A2E42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37947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Base / Boost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468880" y="37947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3.8 / 5.1 GHz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20040" y="4041648"/>
            <a:ext cx="4023360" cy="219456"/>
          </a:xfrm>
          <a:prstGeom prst="rect">
            <a:avLst/>
          </a:prstGeom>
          <a:solidFill>
            <a:srgbClr val="142C44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5760" y="404164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Architecture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468880" y="40416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Zen 4 (TSMC 4nm)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0040" y="4288536"/>
            <a:ext cx="4023360" cy="219456"/>
          </a:xfrm>
          <a:prstGeom prst="rect">
            <a:avLst/>
          </a:prstGeom>
          <a:solidFill>
            <a:srgbClr val="1A2E42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" y="428853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L3 Cache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468880" y="42885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16 MB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0040" y="4535424"/>
            <a:ext cx="4023360" cy="219456"/>
          </a:xfrm>
          <a:prstGeom prst="rect">
            <a:avLst/>
          </a:prstGeom>
          <a:solidFill>
            <a:srgbClr val="142C44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5760" y="453542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TDP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2468880" y="45354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45W (cTDP 28-54W)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754880" y="1051560"/>
            <a:ext cx="4114800" cy="3794760"/>
          </a:xfrm>
          <a:prstGeom prst="rect">
            <a:avLst/>
          </a:prstGeom>
          <a:solidFill>
            <a:srgbClr val="1A2E42"/>
          </a:solidFill>
          <a:ln w="12700">
            <a:solidFill>
              <a:srgbClr val="F4A2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754880" y="1051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261"/>
                </a:solidFill>
              </a:rPr>
              <a:t>iGPU</a:t>
            </a:r>
            <a:endParaRPr lang="en-US" sz="130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1371600" cy="137160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846320" y="30175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AMD Radeon 780M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4800600" y="3547872"/>
            <a:ext cx="4023360" cy="219456"/>
          </a:xfrm>
          <a:prstGeom prst="rect">
            <a:avLst/>
          </a:prstGeom>
          <a:solidFill>
            <a:srgbClr val="142C44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846320" y="35478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Architecture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6949440" y="35478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RDNA 3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800600" y="3794760"/>
            <a:ext cx="4023360" cy="219456"/>
          </a:xfrm>
          <a:prstGeom prst="rect">
            <a:avLst/>
          </a:prstGeom>
          <a:solidFill>
            <a:srgbClr val="1A2E42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846320" y="37947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Compute Units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6949440" y="37947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12 CU (768 shaders)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4800600" y="4041648"/>
            <a:ext cx="4023360" cy="219456"/>
          </a:xfrm>
          <a:prstGeom prst="rect">
            <a:avLst/>
          </a:prstGeom>
          <a:solidFill>
            <a:srgbClr val="142C44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4846320" y="404164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Memory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6949440" y="40416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Shared system RAM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4800600" y="4288536"/>
            <a:ext cx="4023360" cy="219456"/>
          </a:xfrm>
          <a:prstGeom prst="rect">
            <a:avLst/>
          </a:prstGeom>
          <a:solidFill>
            <a:srgbClr val="1A2E42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4846320" y="428853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Memory BW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949440" y="42885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~77 GB/s (DDR5)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4800600" y="4535424"/>
            <a:ext cx="4023360" cy="219456"/>
          </a:xfrm>
          <a:prstGeom prst="rect">
            <a:avLst/>
          </a:prstGeom>
          <a:solidFill>
            <a:srgbClr val="142C44"/>
          </a:solidFill>
          <a:ln w="12700">
            <a:solidFill>
              <a:srgbClr val="223344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846320" y="453542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API Used</a:t>
            </a:r>
            <a:endParaRPr lang="en-US" sz="900" dirty="0"/>
          </a:p>
        </p:txBody>
      </p:sp>
      <p:sp>
        <p:nvSpPr>
          <p:cNvPr id="41" name="Text 37"/>
          <p:cNvSpPr/>
          <p:nvPr/>
        </p:nvSpPr>
        <p:spPr>
          <a:xfrm>
            <a:off x="6949440" y="45354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HIP (ROCm)</a:t>
            </a:r>
            <a:endParaRPr lang="en-US" sz="900" dirty="0"/>
          </a:p>
        </p:txBody>
      </p:sp>
      <p:sp>
        <p:nvSpPr>
          <p:cNvPr id="42" name="Shape 38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solidFill>
            <a:srgbClr val="162538"/>
          </a:solidFill>
          <a:ln w="12700">
            <a:solidFill>
              <a:srgbClr val="162538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FB3C8"/>
                </a:solidFill>
              </a:rPr>
              <a:t>★  iGPU shares system memory — no PCIe transfer bottleneck, but bandwidth is constrained vs. discrete GPU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Benchmark Results — Execution Time (ms)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87552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143000"/>
                <a:gridCol w="1143000"/>
                <a:gridCol w="114300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Dataset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Points / Dim / 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Sequential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2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1B2A"/>
                          </a:solidFill>
                        </a:rPr>
                        <a:t>Scikit-Learn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1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HIP (GPU)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MPI 4P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A26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143000"/>
                <a:gridCol w="1143000"/>
                <a:gridCol w="1143000"/>
                <a:gridCol w="1143000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1B2A"/>
                          </a:solidFill>
                        </a:rPr>
                        <a:t>DS1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6275"/>
                          </a:solidFill>
                        </a:rPr>
                        <a:t>250K, 16D, 32K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4,965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6B3E"/>
                          </a:solidFill>
                        </a:rPr>
                        <a:t>396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2,122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1,484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1B2A"/>
                          </a:solidFill>
                        </a:rPr>
                        <a:t>DS2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6275"/>
                          </a:solidFill>
                        </a:rPr>
                        <a:t>700K, 32D, 32K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39,605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6B3E"/>
                          </a:solidFill>
                        </a:rPr>
                        <a:t>1,722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15,031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9,502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1B2A"/>
                          </a:solidFill>
                        </a:rPr>
                        <a:t>DS3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6275"/>
                          </a:solidFill>
                        </a:rPr>
                        <a:t>1.4M, 32D, 64K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212,183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6B3E"/>
                          </a:solidFill>
                        </a:rPr>
                        <a:t>8,109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48,300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53,818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1B2A"/>
                          </a:solidFill>
                        </a:rPr>
                        <a:t>DS4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6275"/>
                          </a:solidFill>
                        </a:rPr>
                        <a:t>3.5M, 32D, 64K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306,346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6B3E"/>
                          </a:solidFill>
                        </a:rPr>
                        <a:t>21,833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77,633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160,434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1B2A"/>
                          </a:solidFill>
                        </a:rPr>
                        <a:t>DS5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6275"/>
                          </a:solidFill>
                        </a:rPr>
                        <a:t>3.5M, 32D, 128K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613,309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6B3E"/>
                          </a:solidFill>
                        </a:rPr>
                        <a:t>31,115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142,613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D1B2A"/>
                          </a:solidFill>
                        </a:rPr>
                        <a:t>156,254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182880" y="342900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6275"/>
                </a:solidFill>
              </a:rPr>
              <a:t>★ Green = best parallel time per dataset    All times in milliseconds (lower = better)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182880" y="3749040"/>
            <a:ext cx="8778240" cy="36576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82880" y="374904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4D8"/>
                </a:solidFill>
              </a:rPr>
              <a:t>Speedup vs Sequential</a:t>
            </a:r>
            <a:endParaRPr lang="en-US" sz="12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4114800"/>
          <a:ext cx="8778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Dataset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D1B2A"/>
                          </a:solidFill>
                        </a:rPr>
                        <a:t>sklearn ×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1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HIP ×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MPI ×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A26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4462272"/>
          <a:ext cx="8778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1B2A"/>
                          </a:solidFill>
                        </a:rPr>
                        <a:t>DS1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5800"/>
                          </a:solidFill>
                        </a:rPr>
                        <a:t>12.5×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606B"/>
                          </a:solidFill>
                        </a:rPr>
                        <a:t>2.3×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3800"/>
                          </a:solidFill>
                        </a:rPr>
                        <a:t>3.3×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1B2A"/>
                          </a:solidFill>
                        </a:rPr>
                        <a:t>DS2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5800"/>
                          </a:solidFill>
                        </a:rPr>
                        <a:t>23.0×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606B"/>
                          </a:solidFill>
                        </a:rPr>
                        <a:t>2.6×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3800"/>
                          </a:solidFill>
                        </a:rPr>
                        <a:t>4.2×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1B2A"/>
                          </a:solidFill>
                        </a:rPr>
                        <a:t>DS3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5800"/>
                          </a:solidFill>
                        </a:rPr>
                        <a:t>26.2×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606B"/>
                          </a:solidFill>
                        </a:rPr>
                        <a:t>4.4×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3800"/>
                          </a:solidFill>
                        </a:rPr>
                        <a:t>3.9×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1B2A"/>
                          </a:solidFill>
                        </a:rPr>
                        <a:t>DS4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5800"/>
                          </a:solidFill>
                        </a:rPr>
                        <a:t>14.0×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606B"/>
                          </a:solidFill>
                        </a:rPr>
                        <a:t>3.9×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3800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D1B2A"/>
                          </a:solidFill>
                        </a:rPr>
                        <a:t>DS5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5800"/>
                          </a:solidFill>
                        </a:rPr>
                        <a:t>19.7×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606B"/>
                          </a:solidFill>
                        </a:rPr>
                        <a:t>4.3×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3800"/>
                          </a:solidFill>
                        </a:rPr>
                        <a:t>3.9×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Execution Time Comparison (ms) — Log Scale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960120"/>
          <a:ext cx="85953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Speedup vs Sequential Baseline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4617720"/>
            <a:ext cx="8595360" cy="402336"/>
          </a:xfrm>
          <a:prstGeom prst="rect">
            <a:avLst/>
          </a:prstGeom>
          <a:solidFill>
            <a:srgbClr val="E8F4F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74320" y="4617720"/>
            <a:ext cx="859536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Key insight: </a:t>
            </a:r>
            <a:pPr indent="0" marL="0">
              <a:buNone/>
            </a:pPr>
            <a:r>
              <a:rPr lang="en-US" sz="1000" dirty="0">
                <a:solidFill>
                  <a:srgbClr val="0D1B2A"/>
                </a:solidFill>
              </a:rPr>
              <a:t>sklearn dominates throughout. HIP scales well at DS4/DS5. MPI degrades on large K (128K) due to Allreduce communication overhead.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</a:rPr>
              <a:t>Analysis &amp; Conclusions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1051560"/>
            <a:ext cx="4206240" cy="1828800"/>
          </a:xfrm>
          <a:prstGeom prst="rect">
            <a:avLst/>
          </a:prstGeom>
          <a:solidFill>
            <a:srgbClr val="1A2E42"/>
          </a:solidFill>
          <a:ln w="12700">
            <a:solidFill>
              <a:srgbClr val="2DC65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16128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C653"/>
                </a:solidFill>
              </a:rPr>
              <a:t>Scikit-Learn wins overall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65760" y="1737360"/>
            <a:ext cx="3977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</a:rPr>
              <a:t>BLAS-powered vectorization + multi-core SIMD eliminates the O(N·K·D) inner loop bottleneck. Up to 20× faster than sequential. The kernel trick reduces the distance computation to a single matrix multiply.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28600" y="3063240"/>
            <a:ext cx="4206240" cy="1828800"/>
          </a:xfrm>
          <a:prstGeom prst="rect">
            <a:avLst/>
          </a:prstGeom>
          <a:solidFill>
            <a:srgbClr val="1A2E42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2004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31729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HIP scales on large datasets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65760" y="3749040"/>
            <a:ext cx="3977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</a:rPr>
              <a:t>GPU shines at DS4 (3.5M pts, 32D, 64K) with ~4× speedup. Shared iGPU memory limits bandwidth vs discrete GPU. Works best when N is large enough to saturate all 768 shader processors.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709160" y="1051560"/>
            <a:ext cx="4206240" cy="1828800"/>
          </a:xfrm>
          <a:prstGeom prst="rect">
            <a:avLst/>
          </a:prstGeom>
          <a:solidFill>
            <a:srgbClr val="1A2E42"/>
          </a:solidFill>
          <a:ln w="12700">
            <a:solidFill>
              <a:srgbClr val="FFD1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8872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40680" y="116128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</a:rPr>
              <a:t>MPI struggles with large K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846320" y="1737360"/>
            <a:ext cx="3977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</a:rPr>
              <a:t>With K=128K, the MPI_Allreduce payload (K×D doubles) grows huge, causing DS5 communication overhead to dominate. MPI excels only when K is small and N is very large.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709160" y="3063240"/>
            <a:ext cx="4206240" cy="1828800"/>
          </a:xfrm>
          <a:prstGeom prst="rect">
            <a:avLst/>
          </a:prstGeom>
          <a:solidFill>
            <a:srgbClr val="1A2E42"/>
          </a:solidFill>
          <a:ln w="12700">
            <a:solidFill>
              <a:srgbClr val="F4A2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20040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31729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</a:rPr>
              <a:t>Sequential is the honest baseline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4846320" y="3749040"/>
            <a:ext cx="3977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</a:rPr>
              <a:t>No external libraries, no BLAS tricks — pure Lloyd's algorithm in C++. Data-Oriented Design and avoiding sqrt() reduce the constant factor, but it cannot hide the O(N·K·D) complexity.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0" y="731520"/>
            <a:ext cx="2743200" cy="274320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1325880"/>
            <a:ext cx="1554480" cy="1554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6118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Thank You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914400" y="44348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B4D8"/>
                </a:solidFill>
              </a:rPr>
              <a:t>K-Means Clustering: Sequential · Scikit-Learn · HIP · MPI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4846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B3C8"/>
                </a:solidFill>
              </a:rPr>
              <a:t>Hardware: AMD Ryzen 7 7840HS · Radeon 780M iGPU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K-Means Clustering: Parallel Implementations</dc:title>
  <dc:subject>PptxGenJS Presentation</dc:subject>
  <dc:creator>PptxGenJS</dc:creator>
  <cp:lastModifiedBy>PptxGenJS</cp:lastModifiedBy>
  <cp:revision>1</cp:revision>
  <dcterms:created xsi:type="dcterms:W3CDTF">2026-05-20T07:26:54Z</dcterms:created>
  <dcterms:modified xsi:type="dcterms:W3CDTF">2026-05-20T07:26:54Z</dcterms:modified>
</cp:coreProperties>
</file>